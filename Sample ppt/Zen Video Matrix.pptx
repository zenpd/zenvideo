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5bc9b61d-173f-6f59-e722-58eb81878f55}">
          <p14:sldIdLst>
            <p14:sldId id="256"/>
          </p14:sldIdLst>
        </p14:section>
        <p14:section name="Planning" id="{8b99c947-69cf-690d-6c49-f88ac056ad57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PERFORMANCE BENCHMARK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82296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ON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B7280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7498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6B7280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Summary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video takes about 20 minutes to produce; once content exists, each extra deck design costs seconds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Processing time only; human Review step excluded. Measured on one machine across 4 videos and 9 decks.</a:t>
            </a:r>
            <a:endParaRPr lang="en-US" sz="1000" dirty="0"/>
          </a:p>
        </p:txBody>
      </p:sp>
      <p:sp>
        <p:nvSpPr>
          <p:cNvPr id="5" name="mx_head_1"/>
          <p:cNvSpPr txBox="1"/>
          <p:nvPr/>
        </p:nvSpPr>
        <p:spPr>
          <a:xfrm>
            <a:off x="2971800" y="1325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First run</a:t>
            </a:r>
            <a:endParaRPr lang="en-US" sz="1300" dirty="0"/>
          </a:p>
        </p:txBody>
      </p:sp>
      <p:sp>
        <p:nvSpPr>
          <p:cNvPr id="6" name="mx_head_2"/>
          <p:cNvSpPr txBox="1"/>
          <p:nvPr/>
        </p:nvSpPr>
        <p:spPr>
          <a:xfrm>
            <a:off x="498348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Each extra design</a:t>
            </a:r>
            <a:endParaRPr lang="en-US" sz="1300" dirty="0"/>
          </a:p>
        </p:txBody>
      </p:sp>
      <p:sp>
        <p:nvSpPr>
          <p:cNvPr id="7" name="mx_head_3"/>
          <p:cNvSpPr txBox="1"/>
          <p:nvPr/>
        </p:nvSpPr>
        <p:spPr>
          <a:xfrm>
            <a:off x="66294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drives the time</a:t>
            </a:r>
            <a:endParaRPr lang="en-US" sz="1300" dirty="0"/>
          </a:p>
        </p:txBody>
      </p:sp>
      <p:sp>
        <p:nvSpPr>
          <p:cNvPr id="8" name="mx_row_head_bg_1"/>
          <p:cNvSpPr/>
          <p:nvPr/>
        </p:nvSpPr>
        <p:spPr>
          <a:xfrm>
            <a:off x="457200" y="1828800"/>
            <a:ext cx="2286000" cy="7772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9" name="mx_icon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2828"/>
            <a:ext cx="329184" cy="329184"/>
          </a:xfrm>
          <a:prstGeom prst="rect">
            <a:avLst/>
          </a:prstGeom>
        </p:spPr>
      </p:pic>
      <p:sp>
        <p:nvSpPr>
          <p:cNvPr id="10" name="mx_row_head_1"/>
          <p:cNvSpPr txBox="1"/>
          <p:nvPr/>
        </p:nvSpPr>
        <p:spPr>
          <a:xfrm>
            <a:off x="1143000" y="1828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Video only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~4 min video</a:t>
            </a:r>
            <a:endParaRPr lang="en-US" sz="1500" dirty="0"/>
          </a:p>
        </p:txBody>
      </p:sp>
      <p:sp>
        <p:nvSpPr>
          <p:cNvPr id="11" name="mx_row_bg_1"/>
          <p:cNvSpPr/>
          <p:nvPr/>
        </p:nvSpPr>
        <p:spPr>
          <a:xfrm>
            <a:off x="2834640" y="1828800"/>
            <a:ext cx="5852160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mx_first_1"/>
          <p:cNvSpPr txBox="1"/>
          <p:nvPr/>
        </p:nvSpPr>
        <p:spPr>
          <a:xfrm>
            <a:off x="2971800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19–24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 min</a:t>
            </a:r>
            <a:endParaRPr lang="en-US" sz="2200" dirty="0"/>
          </a:p>
        </p:txBody>
      </p:sp>
      <p:sp>
        <p:nvSpPr>
          <p:cNvPr id="13" name="mx_extra_1"/>
          <p:cNvSpPr txBox="1"/>
          <p:nvPr/>
        </p:nvSpPr>
        <p:spPr>
          <a:xfrm>
            <a:off x="498348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Not applicable</a:t>
            </a:r>
            <a:endParaRPr lang="en-US" sz="1300" dirty="0"/>
          </a:p>
        </p:txBody>
      </p:sp>
      <p:sp>
        <p:nvSpPr>
          <p:cNvPr id="14" name="mx_driver_1"/>
          <p:cNvSpPr txBox="1"/>
          <p:nvPr/>
        </p:nvSpPr>
        <p:spPr>
          <a:xfrm>
            <a:off x="662940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Rendering (~65%) and recording (~25%)</a:t>
            </a:r>
            <a:endParaRPr lang="en-US" sz="1300" dirty="0"/>
          </a:p>
        </p:txBody>
      </p:sp>
      <p:sp>
        <p:nvSpPr>
          <p:cNvPr id="15" name="mx_row_head_bg_2"/>
          <p:cNvSpPr/>
          <p:nvPr/>
        </p:nvSpPr>
        <p:spPr>
          <a:xfrm>
            <a:off x="457200" y="2697480"/>
            <a:ext cx="2286000" cy="7772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6" name="mx_icon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1508"/>
            <a:ext cx="329184" cy="329184"/>
          </a:xfrm>
          <a:prstGeom prst="rect">
            <a:avLst/>
          </a:prstGeom>
        </p:spPr>
      </p:pic>
      <p:sp>
        <p:nvSpPr>
          <p:cNvPr id="17" name="mx_row_head_2"/>
          <p:cNvSpPr txBox="1"/>
          <p:nvPr/>
        </p:nvSpPr>
        <p:spPr>
          <a:xfrm>
            <a:off x="1143000" y="2697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Video + PPT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Deck built from the video</a:t>
            </a:r>
            <a:endParaRPr lang="en-US" sz="1500" dirty="0"/>
          </a:p>
        </p:txBody>
      </p:sp>
      <p:sp>
        <p:nvSpPr>
          <p:cNvPr id="18" name="mx_row_bg_2"/>
          <p:cNvSpPr/>
          <p:nvPr/>
        </p:nvSpPr>
        <p:spPr>
          <a:xfrm>
            <a:off x="2834640" y="2697480"/>
            <a:ext cx="5852160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mx_first_2"/>
          <p:cNvSpPr txBox="1"/>
          <p:nvPr/>
        </p:nvSpPr>
        <p:spPr>
          <a:xfrm>
            <a:off x="297180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19.5–24.5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 min</a:t>
            </a:r>
            <a:endParaRPr lang="en-US" sz="2200" dirty="0"/>
          </a:p>
        </p:txBody>
      </p:sp>
      <p:sp>
        <p:nvSpPr>
          <p:cNvPr id="20" name="mx_extra_2"/>
          <p:cNvSpPr txBox="1"/>
          <p:nvPr/>
        </p:nvSpPr>
        <p:spPr>
          <a:xfrm>
            <a:off x="4983480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</a:rPr>
              <a:t>18–27</a:t>
            </a:r>
            <a:pPr indent="0" marL="0">
              <a:buNone/>
            </a:pPr>
            <a:r>
              <a:rPr lang="en-US" sz="1300" dirty="0">
                <a:solidFill>
                  <a:srgbClr val="1B998B"/>
                </a:solidFill>
              </a:rPr>
              <a:t> s</a:t>
            </a:r>
            <a:endParaRPr lang="en-US" sz="2400" dirty="0"/>
          </a:p>
        </p:txBody>
      </p:sp>
      <p:sp>
        <p:nvSpPr>
          <p:cNvPr id="21" name="mx_driver_2"/>
          <p:cNvSpPr txBox="1"/>
          <p:nvPr/>
        </p:nvSpPr>
        <p:spPr>
          <a:xfrm>
            <a:off x="6629400" y="2697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Video time, plus ~30 s for the deck</a:t>
            </a:r>
            <a:endParaRPr lang="en-US" sz="1300" dirty="0"/>
          </a:p>
        </p:txBody>
      </p:sp>
      <p:sp>
        <p:nvSpPr>
          <p:cNvPr id="22" name="mx_row_head_bg_3"/>
          <p:cNvSpPr/>
          <p:nvPr/>
        </p:nvSpPr>
        <p:spPr>
          <a:xfrm>
            <a:off x="457200" y="3566160"/>
            <a:ext cx="2286000" cy="7772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3" name="mx_icon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0188"/>
            <a:ext cx="329184" cy="329184"/>
          </a:xfrm>
          <a:prstGeom prst="rect">
            <a:avLst/>
          </a:prstGeom>
        </p:spPr>
      </p:pic>
      <p:sp>
        <p:nvSpPr>
          <p:cNvPr id="24" name="mx_row_head_3"/>
          <p:cNvSpPr txBox="1"/>
          <p:nvPr/>
        </p:nvSpPr>
        <p:spPr>
          <a:xfrm>
            <a:off x="1143000" y="3566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PPT only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From a link</a:t>
            </a:r>
            <a:endParaRPr lang="en-US" sz="1500" dirty="0"/>
          </a:p>
        </p:txBody>
      </p:sp>
      <p:sp>
        <p:nvSpPr>
          <p:cNvPr id="25" name="mx_row_bg_3"/>
          <p:cNvSpPr/>
          <p:nvPr/>
        </p:nvSpPr>
        <p:spPr>
          <a:xfrm>
            <a:off x="2834640" y="3566160"/>
            <a:ext cx="5852160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mx_first_3"/>
          <p:cNvSpPr txBox="1"/>
          <p:nvPr/>
        </p:nvSpPr>
        <p:spPr>
          <a:xfrm>
            <a:off x="2971800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3–4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 min</a:t>
            </a:r>
            <a:endParaRPr lang="en-US" sz="2200" dirty="0"/>
          </a:p>
        </p:txBody>
      </p:sp>
      <p:sp>
        <p:nvSpPr>
          <p:cNvPr id="27" name="mx_extra_3"/>
          <p:cNvSpPr txBox="1"/>
          <p:nvPr/>
        </p:nvSpPr>
        <p:spPr>
          <a:xfrm>
            <a:off x="4983480" y="3566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</a:rPr>
              <a:t>~1</a:t>
            </a:r>
            <a:pPr indent="0" marL="0">
              <a:buNone/>
            </a:pPr>
            <a:r>
              <a:rPr lang="en-US" sz="1300" dirty="0">
                <a:solidFill>
                  <a:srgbClr val="1B998B"/>
                </a:solidFill>
              </a:rPr>
              <a:t> s</a:t>
            </a:r>
            <a:endParaRPr lang="en-US" sz="2400" dirty="0"/>
          </a:p>
        </p:txBody>
      </p:sp>
      <p:sp>
        <p:nvSpPr>
          <p:cNvPr id="28" name="mx_driver_3"/>
          <p:cNvSpPr txBox="1"/>
          <p:nvPr/>
        </p:nvSpPr>
        <p:spPr>
          <a:xfrm>
            <a:off x="6629400" y="3566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Capturing the app screens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Planning guide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For planning, budget about 5 minutes of processing per minute of video, plus under 30 s per deck design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Estimates from the ~5× rule; deck ~30 s, extra design ~18–27 s. Add ~2 min once after setup for the voice model.</a:t>
            </a:r>
            <a:endParaRPr lang="en-US" sz="1000" dirty="0"/>
          </a:p>
        </p:txBody>
      </p:sp>
      <p:graphicFrame>
        <p:nvGraphicFramePr>
          <p:cNvPr id="3" name="estimate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length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+ 1 deck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~10.5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~20.5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~30.5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stimate_note"/>
          <p:cNvSpPr txBox="1"/>
          <p:nvPr/>
        </p:nvSpPr>
        <p:spPr>
          <a:xfrm>
            <a:off x="457200" y="3977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Highlighted row matches the measured ~4 min videos (19–24 min).</a:t>
            </a:r>
            <a:endParaRPr lang="en-US" sz="1100" dirty="0"/>
          </a:p>
        </p:txBody>
      </p:sp>
      <p:sp>
        <p:nvSpPr>
          <p:cNvPr id="7" name="deck_only_card"/>
          <p:cNvSpPr/>
          <p:nvPr/>
        </p:nvSpPr>
        <p:spPr>
          <a:xfrm>
            <a:off x="6400800" y="1371600"/>
            <a:ext cx="228600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deck_only_head"/>
          <p:cNvSpPr txBox="1"/>
          <p:nvPr/>
        </p:nvSpPr>
        <p:spPr>
          <a:xfrm>
            <a:off x="65836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PPT only, from a link</a:t>
            </a:r>
            <a:endParaRPr lang="en-US" sz="1400" dirty="0"/>
          </a:p>
        </p:txBody>
      </p:sp>
      <p:sp>
        <p:nvSpPr>
          <p:cNvPr id="9" name="deck_only_value"/>
          <p:cNvSpPr txBox="1"/>
          <p:nvPr/>
        </p:nvSpPr>
        <p:spPr>
          <a:xfrm>
            <a:off x="658368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3–4 min</a:t>
            </a:r>
            <a:endParaRPr lang="en-US" sz="2800" dirty="0"/>
          </a:p>
        </p:txBody>
      </p:sp>
      <p:sp>
        <p:nvSpPr>
          <p:cNvPr id="10" name="deck_only_label"/>
          <p:cNvSpPr txBox="1"/>
          <p:nvPr/>
        </p:nvSpPr>
        <p:spPr>
          <a:xfrm>
            <a:off x="658368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first deck</a:t>
            </a:r>
            <a:endParaRPr lang="en-US" sz="1100" dirty="0"/>
          </a:p>
        </p:txBody>
      </p:sp>
      <p:sp>
        <p:nvSpPr>
          <p:cNvPr id="11" name="deck_only_extra"/>
          <p:cNvSpPr txBox="1"/>
          <p:nvPr/>
        </p:nvSpPr>
        <p:spPr>
          <a:xfrm>
            <a:off x="65836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~1 s</a:t>
            </a:r>
            <a:endParaRPr lang="en-US" sz="2800" dirty="0"/>
          </a:p>
        </p:txBody>
      </p:sp>
      <p:sp>
        <p:nvSpPr>
          <p:cNvPr id="12" name="deck_only_extra_label"/>
          <p:cNvSpPr txBox="1"/>
          <p:nvPr/>
        </p:nvSpPr>
        <p:spPr>
          <a:xfrm>
            <a:off x="658368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each extra design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mark Navy">
  <a:themeElements>
    <a:clrScheme name="Benchmark Navy">
      <a:dk1>
        <a:srgbClr val="222222"/>
      </a:dk1>
      <a:lt1>
        <a:srgbClr val="FFFFFF"/>
      </a:lt1>
      <a:dk2>
        <a:srgbClr val="0B1F3A"/>
      </a:dk2>
      <a:lt2>
        <a:srgbClr val="F2F4F7"/>
      </a:lt2>
      <a:accent1>
        <a:srgbClr val="1B998B"/>
      </a:accent1>
      <a:accent2>
        <a:srgbClr val="5B7DB1"/>
      </a:accent2>
      <a:accent3>
        <a:srgbClr val="A9B8CC"/>
      </a:accent3>
      <a:accent4>
        <a:srgbClr val="D64933"/>
      </a:accent4>
      <a:accent5>
        <a:srgbClr val="8C9AAD"/>
      </a:accent5>
      <a:accent6>
        <a:srgbClr val="F2C14E"/>
      </a:accent6>
      <a:hlink>
        <a:srgbClr val="1B998B"/>
      </a:hlink>
      <a:folHlink>
        <a:srgbClr val="5B7DB1"/>
      </a:folHlink>
    </a:clrScheme>
    <a:fontScheme name="Benchmark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Delivery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time benchmarks</dc:title>
  <dc:subject>PptxGenJS Presentation</dc:subject>
  <dc:creator>Delivery Team</dc:creator>
  <cp:lastModifiedBy>Delivery Team</cp:lastModifiedBy>
  <cp:revision>1</cp:revision>
  <dcterms:created xsi:type="dcterms:W3CDTF">2026-10-26T12:27:41Z</dcterms:created>
  <dcterms:modified xsi:type="dcterms:W3CDTF">2026-10-26T12:27:41Z</dcterms:modified>
</cp:coreProperties>
</file>