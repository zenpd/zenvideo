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72ad7f1-474e-98ee-010d-d0a67864b8af}">
          <p14:sldIdLst>
            <p14:sldId id="256"/>
          </p14:sldIdLst>
        </p14:section>
        <p14:section name="Performance" id="{c6b17fbe-66e8-a50e-5862-c148ef281a83}">
          <p14:sldIdLst>
            <p14:sldId id="257"/>
          </p14:sldIdLst>
        </p14:section>
        <p14:section name="Sales" id="{4b4cdfc2-d813-3690-9c10-86609d7eaae8}">
          <p14:sldIdLst>
            <p14:sldId id="258"/>
          </p14:sldIdLst>
        </p14:section>
        <p14:section name="Delivery" id="{f90fec4c-8b2c-5210-1636-fa7fad40602b}">
          <p14:sldIdLst>
            <p14:sldId id="259"/>
          </p14:sldIdLst>
        </p14:section>
        <p14:section name="Customers" id="{40879348-646e-cab7-e0fb-451fcdc10cc5}">
          <p14:sldIdLst>
            <p14:sldId id="260"/>
          </p14:sldIdLst>
        </p14:section>
        <p14:section name="Actions" id="{83b657d0-1000-b8df-b83c-093692f2ba89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D28D9"/>
            </a:solidFill>
            <a:ln w="25400" cap="flat">
              <a:solidFill>
                <a:srgbClr val="6D28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11.8</c:v>
                </c:pt>
                <c:pt idx="1">
                  <c:v>12.4</c:v>
                </c:pt>
                <c:pt idx="2">
                  <c:v>12.1</c:v>
                </c:pt>
                <c:pt idx="3">
                  <c:v>13</c:v>
                </c:pt>
                <c:pt idx="4">
                  <c:v>13.6</c:v>
                </c:pt>
                <c:pt idx="5">
                  <c:v>14.2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58.9</c:v>
                </c:pt>
                <c:pt idx="1">
                  <c:v>59.6</c:v>
                </c:pt>
                <c:pt idx="2">
                  <c:v>60.2</c:v>
                </c:pt>
                <c:pt idx="3">
                  <c:v>59.8</c:v>
                </c:pt>
                <c:pt idx="4">
                  <c:v>60.7</c:v>
                </c:pt>
                <c:pt idx="5">
                  <c:v>61.4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</c:v>
                </c:pt>
              </c:strCache>
            </c:strRef>
          </c:tx>
          <c:spPr>
            <a:solidFill>
              <a:srgbClr val="6D28D9"/>
            </a:solidFill>
            <a:ln w="25400" cap="flat">
              <a:solidFill>
                <a:srgbClr val="6D28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138</c:v>
                </c:pt>
                <c:pt idx="2">
                  <c:v>151</c:v>
                </c:pt>
                <c:pt idx="3">
                  <c:v>149</c:v>
                </c:pt>
                <c:pt idx="4">
                  <c:v>163</c:v>
                </c:pt>
                <c:pt idx="5">
                  <c:v>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2.9</c:v>
                </c:pt>
                <c:pt idx="2">
                  <c:v>2.8</c:v>
                </c:pt>
                <c:pt idx="3">
                  <c:v>2.7</c:v>
                </c:pt>
                <c:pt idx="4">
                  <c:v>2.5</c:v>
                </c:pt>
                <c:pt idx="5">
                  <c:v>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D28D9"/>
            </a:solidFill>
            <a:ln w="31750" cap="flat">
              <a:solidFill>
                <a:srgbClr val="6D28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</c:v>
                </c:pt>
                <c:pt idx="1">
                  <c:v>4.3</c:v>
                </c:pt>
                <c:pt idx="2">
                  <c:v>4.2</c:v>
                </c:pt>
                <c:pt idx="3">
                  <c:v>4.5</c:v>
                </c:pt>
                <c:pt idx="4">
                  <c:v>4.7</c:v>
                </c:pt>
                <c:pt idx="5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4.2</c:v>
                </c:pt>
                <c:pt idx="1">
                  <c:v>4.3</c:v>
                </c:pt>
                <c:pt idx="2">
                  <c:v>4.4</c:v>
                </c:pt>
                <c:pt idx="3">
                  <c:v>4.5</c:v>
                </c:pt>
                <c:pt idx="4">
                  <c:v>4.6</c:v>
                </c:pt>
                <c:pt idx="5">
                  <c:v>4.7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3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64748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Industrial</c:v>
                  </c:pt>
                  <c:pt idx="1">
                    <c:v>Healthcare</c:v>
                  </c:pt>
                  <c:pt idx="2">
                    <c:v>Retail</c:v>
                  </c:pt>
                  <c:pt idx="3">
                    <c:v>Public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5.8</c:v>
                </c:pt>
                <c:pt idx="1">
                  <c:v>4.1</c:v>
                </c:pt>
                <c:pt idx="2">
                  <c:v>2.7</c:v>
                </c:pt>
                <c:pt idx="3">
                  <c:v>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Promoter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8D9"/>
              </a:solidFill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(CSAT)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Renewal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8D9"/>
              </a:solidFill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389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4389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BOARD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5943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274320"/>
            <a:ext cx="2286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64748B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Vertex Industries  ·  Internal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chart" Target="/ppt/charts/chart10.xml"/><Relationship Id="rId6" Type="http://schemas.openxmlformats.org/officeDocument/2006/relationships/chart" Target="/ppt/charts/chart11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chart" Target="/ppt/charts/chart14.xml"/><Relationship Id="rId4" Type="http://schemas.openxmlformats.org/officeDocument/2006/relationships/image" Target="../media/image-5-1.png"/><Relationship Id="rId5" Type="http://schemas.openxmlformats.org/officeDocument/2006/relationships/image" Target="../media/image-5-2.png"/><Relationship Id="rId6" Type="http://schemas.openxmlformats.org/officeDocument/2006/relationships/image" Target="../media/image-5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Quarterly Business Review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Q3 FY2026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Vertex Industries  ·  Leadership team  ·  14 October 2026</a:t>
            </a:r>
            <a:endParaRPr lang="en-US" sz="1200" dirty="0"/>
          </a:p>
        </p:txBody>
      </p:sp>
      <p:sp>
        <p:nvSpPr>
          <p:cNvPr id="5" name="deco_tile_1"/>
          <p:cNvSpPr/>
          <p:nvPr/>
        </p:nvSpPr>
        <p:spPr>
          <a:xfrm>
            <a:off x="5394960" y="6400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E3D55"/>
          </a:solidFill>
          <a:ln/>
        </p:spPr>
      </p:sp>
      <p:sp>
        <p:nvSpPr>
          <p:cNvPr id="6" name="deco_tile_2"/>
          <p:cNvSpPr/>
          <p:nvPr/>
        </p:nvSpPr>
        <p:spPr>
          <a:xfrm>
            <a:off x="7132320" y="6400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E3D55"/>
          </a:solidFill>
          <a:ln/>
        </p:spPr>
      </p:sp>
      <p:sp>
        <p:nvSpPr>
          <p:cNvPr id="7" name="deco_tile_3"/>
          <p:cNvSpPr/>
          <p:nvPr/>
        </p:nvSpPr>
        <p:spPr>
          <a:xfrm>
            <a:off x="5394960" y="18288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2E3D55"/>
          </a:solidFill>
          <a:ln/>
        </p:spPr>
      </p:sp>
      <p:sp>
        <p:nvSpPr>
          <p:cNvPr id="8" name="deco_tile_4"/>
          <p:cNvSpPr/>
          <p:nvPr/>
        </p:nvSpPr>
        <p:spPr>
          <a:xfrm>
            <a:off x="5394960" y="3474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E3D55"/>
          </a:solidFill>
          <a:ln/>
        </p:spPr>
      </p:sp>
      <p:sp>
        <p:nvSpPr>
          <p:cNvPr id="9" name="deco_tile_5"/>
          <p:cNvSpPr/>
          <p:nvPr/>
        </p:nvSpPr>
        <p:spPr>
          <a:xfrm>
            <a:off x="7132320" y="3474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E3D55"/>
          </a:solidFill>
          <a:ln/>
        </p:spPr>
      </p:sp>
      <p:sp>
        <p:nvSpPr>
          <p:cNvPr id="10" name="deco_bar_1"/>
          <p:cNvSpPr/>
          <p:nvPr/>
        </p:nvSpPr>
        <p:spPr>
          <a:xfrm>
            <a:off x="5669280" y="2606040"/>
            <a:ext cx="256032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deco_bar_2"/>
          <p:cNvSpPr/>
          <p:nvPr/>
        </p:nvSpPr>
        <p:spPr>
          <a:xfrm>
            <a:off x="6080760" y="2377440"/>
            <a:ext cx="256032" cy="685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deco_bar_3"/>
          <p:cNvSpPr/>
          <p:nvPr/>
        </p:nvSpPr>
        <p:spPr>
          <a:xfrm>
            <a:off x="6492240" y="2514600"/>
            <a:ext cx="256032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deco_bar_4"/>
          <p:cNvSpPr/>
          <p:nvPr/>
        </p:nvSpPr>
        <p:spPr>
          <a:xfrm>
            <a:off x="6903720" y="2194560"/>
            <a:ext cx="256032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deco_bar_5"/>
          <p:cNvSpPr/>
          <p:nvPr/>
        </p:nvSpPr>
        <p:spPr>
          <a:xfrm>
            <a:off x="7315200" y="2331720"/>
            <a:ext cx="256032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deco_bar_6"/>
          <p:cNvSpPr/>
          <p:nvPr/>
        </p:nvSpPr>
        <p:spPr>
          <a:xfrm>
            <a:off x="7726680" y="2011680"/>
            <a:ext cx="256032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deco_bar_7"/>
          <p:cNvSpPr/>
          <p:nvPr/>
        </p:nvSpPr>
        <p:spPr>
          <a:xfrm>
            <a:off x="8138160" y="2148840"/>
            <a:ext cx="256032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deco_kpi_1"/>
          <p:cNvSpPr/>
          <p:nvPr/>
        </p:nvSpPr>
        <p:spPr>
          <a:xfrm>
            <a:off x="5623560" y="868680"/>
            <a:ext cx="64008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deco_kpi_val_1"/>
          <p:cNvSpPr/>
          <p:nvPr/>
        </p:nvSpPr>
        <p:spPr>
          <a:xfrm>
            <a:off x="5623560" y="1143000"/>
            <a:ext cx="1005840" cy="228600"/>
          </a:xfrm>
          <a:prstGeom prst="rect">
            <a:avLst/>
          </a:prstGeom>
          <a:solidFill>
            <a:srgbClr val="3B4C68"/>
          </a:solidFill>
          <a:ln/>
        </p:spPr>
      </p:sp>
      <p:sp>
        <p:nvSpPr>
          <p:cNvPr id="19" name="deco_kpi_2"/>
          <p:cNvSpPr/>
          <p:nvPr/>
        </p:nvSpPr>
        <p:spPr>
          <a:xfrm>
            <a:off x="7360920" y="868680"/>
            <a:ext cx="640080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deco_kpi_val_2"/>
          <p:cNvSpPr/>
          <p:nvPr/>
        </p:nvSpPr>
        <p:spPr>
          <a:xfrm>
            <a:off x="7360920" y="1143000"/>
            <a:ext cx="1005840" cy="228600"/>
          </a:xfrm>
          <a:prstGeom prst="rect">
            <a:avLst/>
          </a:prstGeom>
          <a:solidFill>
            <a:srgbClr val="3B4C68"/>
          </a:solidFill>
          <a:ln/>
        </p:spPr>
      </p:sp>
      <p:sp>
        <p:nvSpPr>
          <p:cNvPr id="21" name="deco_kpi_3"/>
          <p:cNvSpPr/>
          <p:nvPr/>
        </p:nvSpPr>
        <p:spPr>
          <a:xfrm>
            <a:off x="5623560" y="3703320"/>
            <a:ext cx="640080" cy="10972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2" name="deco_kpi_val_3"/>
          <p:cNvSpPr/>
          <p:nvPr/>
        </p:nvSpPr>
        <p:spPr>
          <a:xfrm>
            <a:off x="5623560" y="3977640"/>
            <a:ext cx="1005840" cy="228600"/>
          </a:xfrm>
          <a:prstGeom prst="rect">
            <a:avLst/>
          </a:prstGeom>
          <a:solidFill>
            <a:srgbClr val="3B4C68"/>
          </a:solidFill>
          <a:ln/>
        </p:spPr>
      </p:sp>
      <p:sp>
        <p:nvSpPr>
          <p:cNvPr id="23" name="deco_kpi_4"/>
          <p:cNvSpPr/>
          <p:nvPr/>
        </p:nvSpPr>
        <p:spPr>
          <a:xfrm>
            <a:off x="7360920" y="3703320"/>
            <a:ext cx="64008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deco_kpi_val_4"/>
          <p:cNvSpPr/>
          <p:nvPr/>
        </p:nvSpPr>
        <p:spPr>
          <a:xfrm>
            <a:off x="7360920" y="3977640"/>
            <a:ext cx="1005840" cy="228600"/>
          </a:xfrm>
          <a:prstGeom prst="rect">
            <a:avLst/>
          </a:prstGeom>
          <a:solidFill>
            <a:srgbClr val="3B4C6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Performance at a glance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274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Q3 FY2026  ·  Jul–Sep</a:t>
            </a:r>
            <a:endParaRPr lang="en-US" sz="1200" dirty="0"/>
          </a:p>
        </p:txBody>
      </p:sp>
      <p:sp>
        <p:nvSpPr>
          <p:cNvPr id="4" name="kpi_tile_1"/>
          <p:cNvSpPr/>
          <p:nvPr/>
        </p:nvSpPr>
        <p:spPr>
          <a:xfrm>
            <a:off x="457200" y="868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kpi_label_1"/>
          <p:cNvSpPr txBox="1"/>
          <p:nvPr/>
        </p:nvSpPr>
        <p:spPr>
          <a:xfrm>
            <a:off x="640080" y="978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Revenue</a:t>
            </a:r>
            <a:endParaRPr lang="en-US" sz="1200" dirty="0"/>
          </a:p>
        </p:txBody>
      </p:sp>
      <p:sp>
        <p:nvSpPr>
          <p:cNvPr id="6" name="kpi_value_1"/>
          <p:cNvSpPr txBox="1"/>
          <p:nvPr/>
        </p:nvSpPr>
        <p:spPr>
          <a:xfrm>
            <a:off x="64008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$14.2M</a:t>
            </a:r>
            <a:endParaRPr lang="en-US" sz="2600" dirty="0"/>
          </a:p>
        </p:txBody>
      </p:sp>
      <p:sp>
        <p:nvSpPr>
          <p:cNvPr id="7" name="kpi_delta_1"/>
          <p:cNvSpPr txBox="1"/>
          <p:nvPr/>
        </p:nvSpPr>
        <p:spPr>
          <a:xfrm>
            <a:off x="64008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▲ 8% vs Q2</a:t>
            </a:r>
            <a:endParaRPr lang="en-US" sz="1100" dirty="0"/>
          </a:p>
        </p:txBody>
      </p:sp>
      <p:graphicFrame>
        <p:nvGraphicFramePr>
          <p:cNvPr id="8" name="kpi_spark_1" descr=""/>
          <p:cNvGraphicFramePr/>
          <p:nvPr/>
        </p:nvGraphicFramePr>
        <p:xfrm>
          <a:off x="1508760" y="1600200"/>
          <a:ext cx="777240" cy="548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kpi_tile_2"/>
          <p:cNvSpPr/>
          <p:nvPr/>
        </p:nvSpPr>
        <p:spPr>
          <a:xfrm>
            <a:off x="2560320" y="868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kpi_label_2"/>
          <p:cNvSpPr txBox="1"/>
          <p:nvPr/>
        </p:nvSpPr>
        <p:spPr>
          <a:xfrm>
            <a:off x="2743200" y="978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Gross margin</a:t>
            </a:r>
            <a:endParaRPr lang="en-US" sz="1200" dirty="0"/>
          </a:p>
        </p:txBody>
      </p:sp>
      <p:sp>
        <p:nvSpPr>
          <p:cNvPr id="11" name="kpi_value_2"/>
          <p:cNvSpPr txBox="1"/>
          <p:nvPr/>
        </p:nvSpPr>
        <p:spPr>
          <a:xfrm>
            <a:off x="274320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61.4%</a:t>
            </a:r>
            <a:endParaRPr lang="en-US" sz="2600" dirty="0"/>
          </a:p>
        </p:txBody>
      </p:sp>
      <p:sp>
        <p:nvSpPr>
          <p:cNvPr id="12" name="kpi_delta_2"/>
          <p:cNvSpPr txBox="1"/>
          <p:nvPr/>
        </p:nvSpPr>
        <p:spPr>
          <a:xfrm>
            <a:off x="274320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▲ 1.2 pts</a:t>
            </a:r>
            <a:endParaRPr lang="en-US" sz="1100" dirty="0"/>
          </a:p>
        </p:txBody>
      </p:sp>
      <p:graphicFrame>
        <p:nvGraphicFramePr>
          <p:cNvPr id="13" name="kpi_spark_2" descr=""/>
          <p:cNvGraphicFramePr/>
          <p:nvPr/>
        </p:nvGraphicFramePr>
        <p:xfrm>
          <a:off x="3611880" y="1600200"/>
          <a:ext cx="777240" cy="548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kpi_tile_3"/>
          <p:cNvSpPr/>
          <p:nvPr/>
        </p:nvSpPr>
        <p:spPr>
          <a:xfrm>
            <a:off x="4663440" y="868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kpi_label_3"/>
          <p:cNvSpPr txBox="1"/>
          <p:nvPr/>
        </p:nvSpPr>
        <p:spPr>
          <a:xfrm>
            <a:off x="4846320" y="978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New customers</a:t>
            </a:r>
            <a:endParaRPr lang="en-US" sz="1200" dirty="0"/>
          </a:p>
        </p:txBody>
      </p:sp>
      <p:sp>
        <p:nvSpPr>
          <p:cNvPr id="16" name="kpi_value_3"/>
          <p:cNvSpPr txBox="1"/>
          <p:nvPr/>
        </p:nvSpPr>
        <p:spPr>
          <a:xfrm>
            <a:off x="484632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186</a:t>
            </a:r>
            <a:endParaRPr lang="en-US" sz="2600" dirty="0"/>
          </a:p>
        </p:txBody>
      </p:sp>
      <p:sp>
        <p:nvSpPr>
          <p:cNvPr id="17" name="kpi_delta_3"/>
          <p:cNvSpPr txBox="1"/>
          <p:nvPr/>
        </p:nvSpPr>
        <p:spPr>
          <a:xfrm>
            <a:off x="484632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▲ 14%</a:t>
            </a:r>
            <a:endParaRPr lang="en-US" sz="1100" dirty="0"/>
          </a:p>
        </p:txBody>
      </p:sp>
      <p:graphicFrame>
        <p:nvGraphicFramePr>
          <p:cNvPr id="18" name="kpi_spark_3" descr=""/>
          <p:cNvGraphicFramePr/>
          <p:nvPr/>
        </p:nvGraphicFramePr>
        <p:xfrm>
          <a:off x="5715000" y="1600200"/>
          <a:ext cx="777240" cy="548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kpi_tile_4"/>
          <p:cNvSpPr/>
          <p:nvPr/>
        </p:nvSpPr>
        <p:spPr>
          <a:xfrm>
            <a:off x="6766560" y="868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kpi_label_4"/>
          <p:cNvSpPr txBox="1"/>
          <p:nvPr/>
        </p:nvSpPr>
        <p:spPr>
          <a:xfrm>
            <a:off x="6949440" y="978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Churn</a:t>
            </a:r>
            <a:endParaRPr lang="en-US" sz="1200" dirty="0"/>
          </a:p>
        </p:txBody>
      </p:sp>
      <p:sp>
        <p:nvSpPr>
          <p:cNvPr id="21" name="kpi_value_4"/>
          <p:cNvSpPr txBox="1"/>
          <p:nvPr/>
        </p:nvSpPr>
        <p:spPr>
          <a:xfrm>
            <a:off x="694944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2.3%</a:t>
            </a:r>
            <a:endParaRPr lang="en-US" sz="2600" dirty="0"/>
          </a:p>
        </p:txBody>
      </p:sp>
      <p:sp>
        <p:nvSpPr>
          <p:cNvPr id="22" name="kpi_delta_4"/>
          <p:cNvSpPr txBox="1"/>
          <p:nvPr/>
        </p:nvSpPr>
        <p:spPr>
          <a:xfrm>
            <a:off x="6949440" y="1664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▼ 0.4 pts (better)</a:t>
            </a:r>
            <a:endParaRPr lang="en-US" sz="1100" dirty="0"/>
          </a:p>
        </p:txBody>
      </p:sp>
      <p:graphicFrame>
        <p:nvGraphicFramePr>
          <p:cNvPr id="23" name="kpi_spark_4" descr=""/>
          <p:cNvGraphicFramePr/>
          <p:nvPr/>
        </p:nvGraphicFramePr>
        <p:xfrm>
          <a:off x="7818120" y="1600200"/>
          <a:ext cx="777240" cy="548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rend_tile"/>
          <p:cNvSpPr/>
          <p:nvPr/>
        </p:nvSpPr>
        <p:spPr>
          <a:xfrm>
            <a:off x="457200" y="2423160"/>
            <a:ext cx="51206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rend_head"/>
          <p:cNvSpPr txBox="1"/>
          <p:nvPr/>
        </p:nvSpPr>
        <p:spPr>
          <a:xfrm>
            <a:off x="640080" y="2532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Monthly revenue vs target ($M)</a:t>
            </a:r>
            <a:endParaRPr lang="en-US" sz="1300" dirty="0"/>
          </a:p>
        </p:txBody>
      </p:sp>
      <p:graphicFrame>
        <p:nvGraphicFramePr>
          <p:cNvPr id="26" name="trend_chart" descr=""/>
          <p:cNvGraphicFramePr/>
          <p:nvPr/>
        </p:nvGraphicFramePr>
        <p:xfrm>
          <a:off x="548640" y="2788920"/>
          <a:ext cx="49377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segment_tile"/>
          <p:cNvSpPr/>
          <p:nvPr/>
        </p:nvSpPr>
        <p:spPr>
          <a:xfrm>
            <a:off x="5760720" y="2423160"/>
            <a:ext cx="29260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egment_head"/>
          <p:cNvSpPr txBox="1"/>
          <p:nvPr/>
        </p:nvSpPr>
        <p:spPr>
          <a:xfrm>
            <a:off x="5943600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Revenue by segment ($M)</a:t>
            </a:r>
            <a:endParaRPr lang="en-US" sz="1300" dirty="0"/>
          </a:p>
        </p:txBody>
      </p:sp>
      <p:graphicFrame>
        <p:nvGraphicFramePr>
          <p:cNvPr id="29" name="segment_chart" descr=""/>
          <p:cNvGraphicFramePr/>
          <p:nvPr/>
        </p:nvGraphicFramePr>
        <p:xfrm>
          <a:off x="5852160" y="2788920"/>
          <a:ext cx="27432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Sales pipeline and conversion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274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Q3 FY2026  ·  Jul–Sep</a:t>
            </a:r>
            <a:endParaRPr lang="en-US" sz="1200" dirty="0"/>
          </a:p>
        </p:txBody>
      </p:sp>
      <p:sp>
        <p:nvSpPr>
          <p:cNvPr id="4" name="funnel_tile"/>
          <p:cNvSpPr/>
          <p:nvPr/>
        </p:nvSpPr>
        <p:spPr>
          <a:xfrm>
            <a:off x="457200" y="868680"/>
            <a:ext cx="5120640" cy="3703320"/>
          </a:xfrm>
          <a:prstGeom prst="roundRect">
            <a:avLst>
              <a:gd name="adj" fmla="val 19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funnel_head"/>
          <p:cNvSpPr txBox="1"/>
          <p:nvPr/>
        </p:nvSpPr>
        <p:spPr>
          <a:xfrm>
            <a:off x="640080" y="978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Pipeline by stage (Q3)</a:t>
            </a:r>
            <a:endParaRPr lang="en-US" sz="1300" dirty="0"/>
          </a:p>
        </p:txBody>
      </p:sp>
      <p:sp>
        <p:nvSpPr>
          <p:cNvPr id="6" name="funnel_stage_1"/>
          <p:cNvSpPr/>
          <p:nvPr/>
        </p:nvSpPr>
        <p:spPr>
          <a:xfrm>
            <a:off x="731520" y="1389888"/>
            <a:ext cx="4572000" cy="512064"/>
          </a:xfrm>
          <a:prstGeom prst="roundRect">
            <a:avLst>
              <a:gd name="adj" fmla="val 10714"/>
            </a:avLst>
          </a:prstGeom>
          <a:solidFill>
            <a:srgbClr val="4C1D95"/>
          </a:solidFill>
          <a:ln/>
        </p:spPr>
      </p:sp>
      <p:sp>
        <p:nvSpPr>
          <p:cNvPr id="7" name="funnel_label_1"/>
          <p:cNvSpPr txBox="1"/>
          <p:nvPr/>
        </p:nvSpPr>
        <p:spPr>
          <a:xfrm>
            <a:off x="731520" y="13898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Leads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2,400</a:t>
            </a:r>
            <a:endParaRPr lang="en-US" sz="1400" dirty="0"/>
          </a:p>
        </p:txBody>
      </p:sp>
      <p:sp>
        <p:nvSpPr>
          <p:cNvPr id="8" name="funnel_stage_2"/>
          <p:cNvSpPr/>
          <p:nvPr/>
        </p:nvSpPr>
        <p:spPr>
          <a:xfrm>
            <a:off x="1074420" y="1993392"/>
            <a:ext cx="3886200" cy="512064"/>
          </a:xfrm>
          <a:prstGeom prst="roundRect">
            <a:avLst>
              <a:gd name="adj" fmla="val 10714"/>
            </a:avLst>
          </a:prstGeom>
          <a:solidFill>
            <a:srgbClr val="5B21B6"/>
          </a:solidFill>
          <a:ln/>
        </p:spPr>
      </p:sp>
      <p:sp>
        <p:nvSpPr>
          <p:cNvPr id="9" name="funnel_label_2"/>
          <p:cNvSpPr txBox="1"/>
          <p:nvPr/>
        </p:nvSpPr>
        <p:spPr>
          <a:xfrm>
            <a:off x="1074420" y="199339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Qualified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980</a:t>
            </a:r>
            <a:endParaRPr lang="en-US" sz="1400" dirty="0"/>
          </a:p>
        </p:txBody>
      </p:sp>
      <p:sp>
        <p:nvSpPr>
          <p:cNvPr id="10" name="funnel_stage_3"/>
          <p:cNvSpPr/>
          <p:nvPr/>
        </p:nvSpPr>
        <p:spPr>
          <a:xfrm>
            <a:off x="1417320" y="2596896"/>
            <a:ext cx="3200400" cy="512064"/>
          </a:xfrm>
          <a:prstGeom prst="roundRect">
            <a:avLst>
              <a:gd name="adj" fmla="val 10714"/>
            </a:avLst>
          </a:prstGeom>
          <a:solidFill>
            <a:srgbClr val="6D28D9"/>
          </a:solidFill>
          <a:ln/>
        </p:spPr>
      </p:sp>
      <p:sp>
        <p:nvSpPr>
          <p:cNvPr id="11" name="funnel_label_3"/>
          <p:cNvSpPr txBox="1"/>
          <p:nvPr/>
        </p:nvSpPr>
        <p:spPr>
          <a:xfrm>
            <a:off x="1417320" y="25968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Proposal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410</a:t>
            </a:r>
            <a:endParaRPr lang="en-US" sz="1400" dirty="0"/>
          </a:p>
        </p:txBody>
      </p:sp>
      <p:sp>
        <p:nvSpPr>
          <p:cNvPr id="12" name="funnel_stage_4"/>
          <p:cNvSpPr/>
          <p:nvPr/>
        </p:nvSpPr>
        <p:spPr>
          <a:xfrm>
            <a:off x="1760220" y="3200400"/>
            <a:ext cx="2514600" cy="512064"/>
          </a:xfrm>
          <a:prstGeom prst="roundRect">
            <a:avLst>
              <a:gd name="adj" fmla="val 10714"/>
            </a:avLst>
          </a:prstGeom>
          <a:solidFill>
            <a:srgbClr val="8B5CF6"/>
          </a:solidFill>
          <a:ln/>
        </p:spPr>
      </p:sp>
      <p:sp>
        <p:nvSpPr>
          <p:cNvPr id="13" name="funnel_label_4"/>
          <p:cNvSpPr txBox="1"/>
          <p:nvPr/>
        </p:nvSpPr>
        <p:spPr>
          <a:xfrm>
            <a:off x="1760220" y="320040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Negotiation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160</a:t>
            </a:r>
            <a:endParaRPr lang="en-US" sz="1400" dirty="0"/>
          </a:p>
        </p:txBody>
      </p:sp>
      <p:sp>
        <p:nvSpPr>
          <p:cNvPr id="14" name="funnel_stage_5"/>
          <p:cNvSpPr/>
          <p:nvPr/>
        </p:nvSpPr>
        <p:spPr>
          <a:xfrm>
            <a:off x="2103120" y="3803904"/>
            <a:ext cx="1828800" cy="512064"/>
          </a:xfrm>
          <a:prstGeom prst="roundRect">
            <a:avLst>
              <a:gd name="adj" fmla="val 10714"/>
            </a:avLst>
          </a:prstGeom>
          <a:solidFill>
            <a:srgbClr val="14B8A6"/>
          </a:solidFill>
          <a:ln/>
        </p:spPr>
      </p:sp>
      <p:sp>
        <p:nvSpPr>
          <p:cNvPr id="15" name="funnel_label_5"/>
          <p:cNvSpPr txBox="1"/>
          <p:nvPr/>
        </p:nvSpPr>
        <p:spPr>
          <a:xfrm>
            <a:off x="2103120" y="38039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Won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108  ·  $6.8M</a:t>
            </a:r>
            <a:endParaRPr lang="en-US" sz="1400" dirty="0"/>
          </a:p>
        </p:txBody>
      </p:sp>
      <p:sp>
        <p:nvSpPr>
          <p:cNvPr id="16" name="winrate_tile"/>
          <p:cNvSpPr/>
          <p:nvPr/>
        </p:nvSpPr>
        <p:spPr>
          <a:xfrm>
            <a:off x="5760720" y="868680"/>
            <a:ext cx="29260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winrate_label"/>
          <p:cNvSpPr txBox="1"/>
          <p:nvPr/>
        </p:nvSpPr>
        <p:spPr>
          <a:xfrm>
            <a:off x="594360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Win rate</a:t>
            </a:r>
            <a:endParaRPr lang="en-US" sz="1300" dirty="0"/>
          </a:p>
        </p:txBody>
      </p:sp>
      <p:sp>
        <p:nvSpPr>
          <p:cNvPr id="18" name="winrate_value"/>
          <p:cNvSpPr txBox="1"/>
          <p:nvPr/>
        </p:nvSpPr>
        <p:spPr>
          <a:xfrm>
            <a:off x="594360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27%</a:t>
            </a:r>
            <a:endParaRPr lang="en-US" sz="3600" dirty="0"/>
          </a:p>
        </p:txBody>
      </p:sp>
      <p:sp>
        <p:nvSpPr>
          <p:cNvPr id="19" name="winrate_delta"/>
          <p:cNvSpPr txBox="1"/>
          <p:nvPr/>
        </p:nvSpPr>
        <p:spPr>
          <a:xfrm>
            <a:off x="59436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▲ 3 pts vs Q2</a:t>
            </a:r>
            <a:endParaRPr lang="en-US" sz="1200" dirty="0"/>
          </a:p>
        </p:txBody>
      </p:sp>
      <p:sp>
        <p:nvSpPr>
          <p:cNvPr id="20" name="conv_tile"/>
          <p:cNvSpPr/>
          <p:nvPr/>
        </p:nvSpPr>
        <p:spPr>
          <a:xfrm>
            <a:off x="5760720" y="2514600"/>
            <a:ext cx="29260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conv_head"/>
          <p:cNvSpPr txBox="1"/>
          <p:nvPr/>
        </p:nvSpPr>
        <p:spPr>
          <a:xfrm>
            <a:off x="594360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Stage conversion</a:t>
            </a:r>
            <a:endParaRPr lang="en-US" sz="1300" dirty="0"/>
          </a:p>
        </p:txBody>
      </p:sp>
      <p:sp>
        <p:nvSpPr>
          <p:cNvPr id="22" name="conv_label_1"/>
          <p:cNvSpPr txBox="1"/>
          <p:nvPr/>
        </p:nvSpPr>
        <p:spPr>
          <a:xfrm>
            <a:off x="594360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Lead → Qualified</a:t>
            </a:r>
            <a:endParaRPr lang="en-US" sz="1200" dirty="0"/>
          </a:p>
        </p:txBody>
      </p:sp>
      <p:sp>
        <p:nvSpPr>
          <p:cNvPr id="23" name="conv_value_1"/>
          <p:cNvSpPr txBox="1"/>
          <p:nvPr/>
        </p:nvSpPr>
        <p:spPr>
          <a:xfrm>
            <a:off x="7863840" y="2880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41%</a:t>
            </a:r>
            <a:endParaRPr lang="en-US" sz="1300" dirty="0"/>
          </a:p>
        </p:txBody>
      </p:sp>
      <p:sp>
        <p:nvSpPr>
          <p:cNvPr id="24" name="conv_label_2"/>
          <p:cNvSpPr txBox="1"/>
          <p:nvPr/>
        </p:nvSpPr>
        <p:spPr>
          <a:xfrm>
            <a:off x="5943600" y="3282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Qualified → Proposal</a:t>
            </a:r>
            <a:endParaRPr lang="en-US" sz="1200" dirty="0"/>
          </a:p>
        </p:txBody>
      </p:sp>
      <p:sp>
        <p:nvSpPr>
          <p:cNvPr id="25" name="conv_value_2"/>
          <p:cNvSpPr txBox="1"/>
          <p:nvPr/>
        </p:nvSpPr>
        <p:spPr>
          <a:xfrm>
            <a:off x="7863840" y="32826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42%</a:t>
            </a:r>
            <a:endParaRPr lang="en-US" sz="1300" dirty="0"/>
          </a:p>
        </p:txBody>
      </p:sp>
      <p:sp>
        <p:nvSpPr>
          <p:cNvPr id="26" name="conv_label_3"/>
          <p:cNvSpPr txBox="1"/>
          <p:nvPr/>
        </p:nvSpPr>
        <p:spPr>
          <a:xfrm>
            <a:off x="5943600" y="3685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Proposal → Negotiation</a:t>
            </a:r>
            <a:endParaRPr lang="en-US" sz="1200" dirty="0"/>
          </a:p>
        </p:txBody>
      </p:sp>
      <p:sp>
        <p:nvSpPr>
          <p:cNvPr id="27" name="conv_value_3"/>
          <p:cNvSpPr txBox="1"/>
          <p:nvPr/>
        </p:nvSpPr>
        <p:spPr>
          <a:xfrm>
            <a:off x="7863840" y="3685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39%</a:t>
            </a:r>
            <a:endParaRPr lang="en-US" sz="1300" dirty="0"/>
          </a:p>
        </p:txBody>
      </p:sp>
      <p:sp>
        <p:nvSpPr>
          <p:cNvPr id="28" name="conv_label_4"/>
          <p:cNvSpPr txBox="1"/>
          <p:nvPr/>
        </p:nvSpPr>
        <p:spPr>
          <a:xfrm>
            <a:off x="594360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Negotiation → Won</a:t>
            </a:r>
            <a:endParaRPr lang="en-US" sz="1200" dirty="0"/>
          </a:p>
        </p:txBody>
      </p:sp>
      <p:sp>
        <p:nvSpPr>
          <p:cNvPr id="29" name="conv_value_4"/>
          <p:cNvSpPr txBox="1"/>
          <p:nvPr/>
        </p:nvSpPr>
        <p:spPr>
          <a:xfrm>
            <a:off x="7863840" y="40873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68%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Strategic project status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274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Q3 FY2026  ·  Jul–Sep</a:t>
            </a:r>
            <a:endParaRPr lang="en-US" sz="1200" dirty="0"/>
          </a:p>
        </p:txBody>
      </p:sp>
      <p:sp>
        <p:nvSpPr>
          <p:cNvPr id="4" name="status_tile"/>
          <p:cNvSpPr/>
          <p:nvPr/>
        </p:nvSpPr>
        <p:spPr>
          <a:xfrm>
            <a:off x="457200" y="868680"/>
            <a:ext cx="8229600" cy="3703320"/>
          </a:xfrm>
          <a:prstGeom prst="roundRect">
            <a:avLst>
              <a:gd name="adj" fmla="val 19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tatus_header_1"/>
          <p:cNvSpPr txBox="1"/>
          <p:nvPr/>
        </p:nvSpPr>
        <p:spPr>
          <a:xfrm>
            <a:off x="68580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Project</a:t>
            </a:r>
            <a:endParaRPr lang="en-US" sz="1200" dirty="0"/>
          </a:p>
        </p:txBody>
      </p:sp>
      <p:sp>
        <p:nvSpPr>
          <p:cNvPr id="6" name="status_header_2"/>
          <p:cNvSpPr txBox="1"/>
          <p:nvPr/>
        </p:nvSpPr>
        <p:spPr>
          <a:xfrm>
            <a:off x="3063240" y="1005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Owner</a:t>
            </a:r>
            <a:endParaRPr lang="en-US" sz="1200" dirty="0"/>
          </a:p>
        </p:txBody>
      </p:sp>
      <p:sp>
        <p:nvSpPr>
          <p:cNvPr id="7" name="status_header_3"/>
          <p:cNvSpPr txBox="1"/>
          <p:nvPr/>
        </p:nvSpPr>
        <p:spPr>
          <a:xfrm>
            <a:off x="438912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Progress</a:t>
            </a:r>
            <a:endParaRPr lang="en-US" sz="1200" dirty="0"/>
          </a:p>
        </p:txBody>
      </p:sp>
      <p:sp>
        <p:nvSpPr>
          <p:cNvPr id="8" name="status_header_4"/>
          <p:cNvSpPr txBox="1"/>
          <p:nvPr/>
        </p:nvSpPr>
        <p:spPr>
          <a:xfrm>
            <a:off x="6629400" y="1005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Due</a:t>
            </a:r>
            <a:endParaRPr lang="en-US" sz="1200" dirty="0"/>
          </a:p>
        </p:txBody>
      </p:sp>
      <p:sp>
        <p:nvSpPr>
          <p:cNvPr id="9" name="status_header_5"/>
          <p:cNvSpPr txBox="1"/>
          <p:nvPr/>
        </p:nvSpPr>
        <p:spPr>
          <a:xfrm>
            <a:off x="749808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Status</a:t>
            </a:r>
            <a:endParaRPr lang="en-US" sz="1200" dirty="0"/>
          </a:p>
        </p:txBody>
      </p:sp>
      <p:sp>
        <p:nvSpPr>
          <p:cNvPr id="10" name="status_rule_1"/>
          <p:cNvSpPr/>
          <p:nvPr/>
        </p:nvSpPr>
        <p:spPr>
          <a:xfrm>
            <a:off x="685800" y="1335024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status_project_1"/>
          <p:cNvSpPr txBox="1"/>
          <p:nvPr/>
        </p:nvSpPr>
        <p:spPr>
          <a:xfrm>
            <a:off x="68580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ERP migration</a:t>
            </a:r>
            <a:endParaRPr lang="en-US" sz="1400" dirty="0"/>
          </a:p>
        </p:txBody>
      </p:sp>
      <p:sp>
        <p:nvSpPr>
          <p:cNvPr id="12" name="status_owner_1"/>
          <p:cNvSpPr txBox="1"/>
          <p:nvPr/>
        </p:nvSpPr>
        <p:spPr>
          <a:xfrm>
            <a:off x="306324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A. Mehta</a:t>
            </a:r>
            <a:endParaRPr lang="en-US" sz="1300" dirty="0"/>
          </a:p>
        </p:txBody>
      </p:sp>
      <p:sp>
        <p:nvSpPr>
          <p:cNvPr id="13" name="status_track_1"/>
          <p:cNvSpPr/>
          <p:nvPr/>
        </p:nvSpPr>
        <p:spPr>
          <a:xfrm>
            <a:off x="4389120" y="1545336"/>
            <a:ext cx="155448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4" name="status_bar_1"/>
          <p:cNvSpPr/>
          <p:nvPr/>
        </p:nvSpPr>
        <p:spPr>
          <a:xfrm>
            <a:off x="4389120" y="1545336"/>
            <a:ext cx="1119226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status_pct_1"/>
          <p:cNvSpPr txBox="1"/>
          <p:nvPr/>
        </p:nvSpPr>
        <p:spPr>
          <a:xfrm>
            <a:off x="6035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72%</a:t>
            </a:r>
            <a:endParaRPr lang="en-US" sz="1200" dirty="0"/>
          </a:p>
        </p:txBody>
      </p:sp>
      <p:sp>
        <p:nvSpPr>
          <p:cNvPr id="16" name="status_due_1"/>
          <p:cNvSpPr txBox="1"/>
          <p:nvPr/>
        </p:nvSpPr>
        <p:spPr>
          <a:xfrm>
            <a:off x="662940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 26</a:t>
            </a:r>
            <a:endParaRPr lang="en-US" sz="1300" dirty="0"/>
          </a:p>
        </p:txBody>
      </p:sp>
      <p:sp>
        <p:nvSpPr>
          <p:cNvPr id="17" name="status_dot_1"/>
          <p:cNvSpPr/>
          <p:nvPr/>
        </p:nvSpPr>
        <p:spPr>
          <a:xfrm>
            <a:off x="7498080" y="152704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status_text_1"/>
          <p:cNvSpPr txBox="1"/>
          <p:nvPr/>
        </p:nvSpPr>
        <p:spPr>
          <a:xfrm>
            <a:off x="77266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track</a:t>
            </a:r>
            <a:endParaRPr lang="en-US" sz="1200" dirty="0"/>
          </a:p>
        </p:txBody>
      </p:sp>
      <p:sp>
        <p:nvSpPr>
          <p:cNvPr id="19" name="status_rule_2"/>
          <p:cNvSpPr/>
          <p:nvPr/>
        </p:nvSpPr>
        <p:spPr>
          <a:xfrm>
            <a:off x="685800" y="1856232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tatus_project_2"/>
          <p:cNvSpPr txBox="1"/>
          <p:nvPr/>
        </p:nvSpPr>
        <p:spPr>
          <a:xfrm>
            <a:off x="685800" y="1892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Plant 3 automation</a:t>
            </a:r>
            <a:endParaRPr lang="en-US" sz="1400" dirty="0"/>
          </a:p>
        </p:txBody>
      </p:sp>
      <p:sp>
        <p:nvSpPr>
          <p:cNvPr id="21" name="status_owner_2"/>
          <p:cNvSpPr txBox="1"/>
          <p:nvPr/>
        </p:nvSpPr>
        <p:spPr>
          <a:xfrm>
            <a:off x="3063240" y="18928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J. Costa</a:t>
            </a:r>
            <a:endParaRPr lang="en-US" sz="1300" dirty="0"/>
          </a:p>
        </p:txBody>
      </p:sp>
      <p:sp>
        <p:nvSpPr>
          <p:cNvPr id="22" name="status_track_2"/>
          <p:cNvSpPr/>
          <p:nvPr/>
        </p:nvSpPr>
        <p:spPr>
          <a:xfrm>
            <a:off x="4389120" y="2066544"/>
            <a:ext cx="155448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3" name="status_bar_2"/>
          <p:cNvSpPr/>
          <p:nvPr/>
        </p:nvSpPr>
        <p:spPr>
          <a:xfrm>
            <a:off x="4389120" y="2066544"/>
            <a:ext cx="699516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status_pct_2"/>
          <p:cNvSpPr txBox="1"/>
          <p:nvPr/>
        </p:nvSpPr>
        <p:spPr>
          <a:xfrm>
            <a:off x="60350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45%</a:t>
            </a:r>
            <a:endParaRPr lang="en-US" sz="1200" dirty="0"/>
          </a:p>
        </p:txBody>
      </p:sp>
      <p:sp>
        <p:nvSpPr>
          <p:cNvPr id="25" name="status_due_2"/>
          <p:cNvSpPr txBox="1"/>
          <p:nvPr/>
        </p:nvSpPr>
        <p:spPr>
          <a:xfrm>
            <a:off x="6629400" y="1892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 27</a:t>
            </a:r>
            <a:endParaRPr lang="en-US" sz="1300" dirty="0"/>
          </a:p>
        </p:txBody>
      </p:sp>
      <p:sp>
        <p:nvSpPr>
          <p:cNvPr id="26" name="status_dot_2"/>
          <p:cNvSpPr/>
          <p:nvPr/>
        </p:nvSpPr>
        <p:spPr>
          <a:xfrm>
            <a:off x="7498080" y="204825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status_text_2"/>
          <p:cNvSpPr txBox="1"/>
          <p:nvPr/>
        </p:nvSpPr>
        <p:spPr>
          <a:xfrm>
            <a:off x="7726680" y="1892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 risk</a:t>
            </a:r>
            <a:endParaRPr lang="en-US" sz="1200" dirty="0"/>
          </a:p>
        </p:txBody>
      </p:sp>
      <p:sp>
        <p:nvSpPr>
          <p:cNvPr id="28" name="status_rule_3"/>
          <p:cNvSpPr/>
          <p:nvPr/>
        </p:nvSpPr>
        <p:spPr>
          <a:xfrm>
            <a:off x="685800" y="2377440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status_project_3"/>
          <p:cNvSpPr txBox="1"/>
          <p:nvPr/>
        </p:nvSpPr>
        <p:spPr>
          <a:xfrm>
            <a:off x="685800" y="24140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 portal v2</a:t>
            </a:r>
            <a:endParaRPr lang="en-US" sz="1400" dirty="0"/>
          </a:p>
        </p:txBody>
      </p:sp>
      <p:sp>
        <p:nvSpPr>
          <p:cNvPr id="30" name="status_owner_3"/>
          <p:cNvSpPr txBox="1"/>
          <p:nvPr/>
        </p:nvSpPr>
        <p:spPr>
          <a:xfrm>
            <a:off x="3063240" y="24140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L. Chen</a:t>
            </a:r>
            <a:endParaRPr lang="en-US" sz="1300" dirty="0"/>
          </a:p>
        </p:txBody>
      </p:sp>
      <p:sp>
        <p:nvSpPr>
          <p:cNvPr id="31" name="status_track_3"/>
          <p:cNvSpPr/>
          <p:nvPr/>
        </p:nvSpPr>
        <p:spPr>
          <a:xfrm>
            <a:off x="4389120" y="2587752"/>
            <a:ext cx="155448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32" name="status_bar_3"/>
          <p:cNvSpPr/>
          <p:nvPr/>
        </p:nvSpPr>
        <p:spPr>
          <a:xfrm>
            <a:off x="4389120" y="2587752"/>
            <a:ext cx="1367942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status_pct_3"/>
          <p:cNvSpPr txBox="1"/>
          <p:nvPr/>
        </p:nvSpPr>
        <p:spPr>
          <a:xfrm>
            <a:off x="603504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88%</a:t>
            </a:r>
            <a:endParaRPr lang="en-US" sz="1200" dirty="0"/>
          </a:p>
        </p:txBody>
      </p:sp>
      <p:sp>
        <p:nvSpPr>
          <p:cNvPr id="34" name="status_due_3"/>
          <p:cNvSpPr txBox="1"/>
          <p:nvPr/>
        </p:nvSpPr>
        <p:spPr>
          <a:xfrm>
            <a:off x="6629400" y="24140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Nov 26</a:t>
            </a:r>
            <a:endParaRPr lang="en-US" sz="1300" dirty="0"/>
          </a:p>
        </p:txBody>
      </p:sp>
      <p:sp>
        <p:nvSpPr>
          <p:cNvPr id="35" name="status_dot_3"/>
          <p:cNvSpPr/>
          <p:nvPr/>
        </p:nvSpPr>
        <p:spPr>
          <a:xfrm>
            <a:off x="7498080" y="2569464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status_text_3"/>
          <p:cNvSpPr txBox="1"/>
          <p:nvPr/>
        </p:nvSpPr>
        <p:spPr>
          <a:xfrm>
            <a:off x="7726680" y="24140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track</a:t>
            </a:r>
            <a:endParaRPr lang="en-US" sz="1200" dirty="0"/>
          </a:p>
        </p:txBody>
      </p:sp>
      <p:sp>
        <p:nvSpPr>
          <p:cNvPr id="37" name="status_rule_4"/>
          <p:cNvSpPr/>
          <p:nvPr/>
        </p:nvSpPr>
        <p:spPr>
          <a:xfrm>
            <a:off x="685800" y="289864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8" name="status_project_4"/>
          <p:cNvSpPr txBox="1"/>
          <p:nvPr/>
        </p:nvSpPr>
        <p:spPr>
          <a:xfrm>
            <a:off x="68580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Pricing engine</a:t>
            </a:r>
            <a:endParaRPr lang="en-US" sz="1400" dirty="0"/>
          </a:p>
        </p:txBody>
      </p:sp>
      <p:sp>
        <p:nvSpPr>
          <p:cNvPr id="39" name="status_owner_4"/>
          <p:cNvSpPr txBox="1"/>
          <p:nvPr/>
        </p:nvSpPr>
        <p:spPr>
          <a:xfrm>
            <a:off x="3063240" y="29352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R. Iyer</a:t>
            </a:r>
            <a:endParaRPr lang="en-US" sz="1300" dirty="0"/>
          </a:p>
        </p:txBody>
      </p:sp>
      <p:sp>
        <p:nvSpPr>
          <p:cNvPr id="40" name="status_track_4"/>
          <p:cNvSpPr/>
          <p:nvPr/>
        </p:nvSpPr>
        <p:spPr>
          <a:xfrm>
            <a:off x="4389120" y="3108960"/>
            <a:ext cx="155448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41" name="status_bar_4"/>
          <p:cNvSpPr/>
          <p:nvPr/>
        </p:nvSpPr>
        <p:spPr>
          <a:xfrm>
            <a:off x="4389120" y="3108960"/>
            <a:ext cx="466344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2" name="status_pct_4"/>
          <p:cNvSpPr txBox="1"/>
          <p:nvPr/>
        </p:nvSpPr>
        <p:spPr>
          <a:xfrm>
            <a:off x="603504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30%</a:t>
            </a:r>
            <a:endParaRPr lang="en-US" sz="1200" dirty="0"/>
          </a:p>
        </p:txBody>
      </p:sp>
      <p:sp>
        <p:nvSpPr>
          <p:cNvPr id="43" name="status_due_4"/>
          <p:cNvSpPr txBox="1"/>
          <p:nvPr/>
        </p:nvSpPr>
        <p:spPr>
          <a:xfrm>
            <a:off x="6629400" y="2935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Jan 27</a:t>
            </a:r>
            <a:endParaRPr lang="en-US" sz="1300" dirty="0"/>
          </a:p>
        </p:txBody>
      </p:sp>
      <p:sp>
        <p:nvSpPr>
          <p:cNvPr id="44" name="status_dot_4"/>
          <p:cNvSpPr/>
          <p:nvPr/>
        </p:nvSpPr>
        <p:spPr>
          <a:xfrm>
            <a:off x="7498080" y="309067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status_text_4"/>
          <p:cNvSpPr txBox="1"/>
          <p:nvPr/>
        </p:nvSpPr>
        <p:spPr>
          <a:xfrm>
            <a:off x="7726680" y="29352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 track</a:t>
            </a:r>
            <a:endParaRPr lang="en-US" sz="1200" dirty="0"/>
          </a:p>
        </p:txBody>
      </p:sp>
      <p:sp>
        <p:nvSpPr>
          <p:cNvPr id="46" name="status_rule_5"/>
          <p:cNvSpPr/>
          <p:nvPr/>
        </p:nvSpPr>
        <p:spPr>
          <a:xfrm>
            <a:off x="685800" y="3419856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7" name="status_project_5"/>
          <p:cNvSpPr txBox="1"/>
          <p:nvPr/>
        </p:nvSpPr>
        <p:spPr>
          <a:xfrm>
            <a:off x="68580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Supplier onboarding</a:t>
            </a:r>
            <a:endParaRPr lang="en-US" sz="1400" dirty="0"/>
          </a:p>
        </p:txBody>
      </p:sp>
      <p:sp>
        <p:nvSpPr>
          <p:cNvPr id="48" name="status_owner_5"/>
          <p:cNvSpPr txBox="1"/>
          <p:nvPr/>
        </p:nvSpPr>
        <p:spPr>
          <a:xfrm>
            <a:off x="3063240" y="3456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S. Patel</a:t>
            </a:r>
            <a:endParaRPr lang="en-US" sz="1300" dirty="0"/>
          </a:p>
        </p:txBody>
      </p:sp>
      <p:sp>
        <p:nvSpPr>
          <p:cNvPr id="49" name="status_track_5"/>
          <p:cNvSpPr/>
          <p:nvPr/>
        </p:nvSpPr>
        <p:spPr>
          <a:xfrm>
            <a:off x="4389120" y="3630168"/>
            <a:ext cx="155448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50" name="status_bar_5"/>
          <p:cNvSpPr/>
          <p:nvPr/>
        </p:nvSpPr>
        <p:spPr>
          <a:xfrm>
            <a:off x="4389120" y="3630168"/>
            <a:ext cx="932688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1" name="status_pct_5"/>
          <p:cNvSpPr txBox="1"/>
          <p:nvPr/>
        </p:nvSpPr>
        <p:spPr>
          <a:xfrm>
            <a:off x="60350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60%</a:t>
            </a:r>
            <a:endParaRPr lang="en-US" sz="1200" dirty="0"/>
          </a:p>
        </p:txBody>
      </p:sp>
      <p:sp>
        <p:nvSpPr>
          <p:cNvPr id="52" name="status_due_5"/>
          <p:cNvSpPr txBox="1"/>
          <p:nvPr/>
        </p:nvSpPr>
        <p:spPr>
          <a:xfrm>
            <a:off x="6629400" y="34564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Feb 27</a:t>
            </a:r>
            <a:endParaRPr lang="en-US" sz="1300" dirty="0"/>
          </a:p>
        </p:txBody>
      </p:sp>
      <p:sp>
        <p:nvSpPr>
          <p:cNvPr id="53" name="status_dot_5"/>
          <p:cNvSpPr/>
          <p:nvPr/>
        </p:nvSpPr>
        <p:spPr>
          <a:xfrm>
            <a:off x="7498080" y="361188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status_text_5"/>
          <p:cNvSpPr txBox="1"/>
          <p:nvPr/>
        </p:nvSpPr>
        <p:spPr>
          <a:xfrm>
            <a:off x="7726680" y="3456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 risk</a:t>
            </a:r>
            <a:endParaRPr lang="en-US" sz="1200" dirty="0"/>
          </a:p>
        </p:txBody>
      </p:sp>
      <p:sp>
        <p:nvSpPr>
          <p:cNvPr id="55" name="status_rule_6"/>
          <p:cNvSpPr/>
          <p:nvPr/>
        </p:nvSpPr>
        <p:spPr>
          <a:xfrm>
            <a:off x="685800" y="3941064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6" name="status_project_6"/>
          <p:cNvSpPr txBox="1"/>
          <p:nvPr/>
        </p:nvSpPr>
        <p:spPr>
          <a:xfrm>
            <a:off x="6858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platform</a:t>
            </a:r>
            <a:endParaRPr lang="en-US" sz="1400" dirty="0"/>
          </a:p>
        </p:txBody>
      </p:sp>
      <p:sp>
        <p:nvSpPr>
          <p:cNvPr id="57" name="status_owner_6"/>
          <p:cNvSpPr txBox="1"/>
          <p:nvPr/>
        </p:nvSpPr>
        <p:spPr>
          <a:xfrm>
            <a:off x="306324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M. Novak</a:t>
            </a:r>
            <a:endParaRPr lang="en-US" sz="1300" dirty="0"/>
          </a:p>
        </p:txBody>
      </p:sp>
      <p:sp>
        <p:nvSpPr>
          <p:cNvPr id="58" name="status_track_6"/>
          <p:cNvSpPr/>
          <p:nvPr/>
        </p:nvSpPr>
        <p:spPr>
          <a:xfrm>
            <a:off x="4389120" y="4151376"/>
            <a:ext cx="155448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59" name="status_bar_6"/>
          <p:cNvSpPr/>
          <p:nvPr/>
        </p:nvSpPr>
        <p:spPr>
          <a:xfrm>
            <a:off x="4389120" y="4151376"/>
            <a:ext cx="1476756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0" name="status_pct_6"/>
          <p:cNvSpPr txBox="1"/>
          <p:nvPr/>
        </p:nvSpPr>
        <p:spPr>
          <a:xfrm>
            <a:off x="60350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95%</a:t>
            </a:r>
            <a:endParaRPr lang="en-US" sz="1200" dirty="0"/>
          </a:p>
        </p:txBody>
      </p:sp>
      <p:sp>
        <p:nvSpPr>
          <p:cNvPr id="61" name="status_due_6"/>
          <p:cNvSpPr txBox="1"/>
          <p:nvPr/>
        </p:nvSpPr>
        <p:spPr>
          <a:xfrm>
            <a:off x="6629400" y="3977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Oct 26</a:t>
            </a:r>
            <a:endParaRPr lang="en-US" sz="1300" dirty="0"/>
          </a:p>
        </p:txBody>
      </p:sp>
      <p:sp>
        <p:nvSpPr>
          <p:cNvPr id="62" name="status_dot_6"/>
          <p:cNvSpPr/>
          <p:nvPr/>
        </p:nvSpPr>
        <p:spPr>
          <a:xfrm>
            <a:off x="7498080" y="413308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3" name="status_text_6"/>
          <p:cNvSpPr txBox="1"/>
          <p:nvPr/>
        </p:nvSpPr>
        <p:spPr>
          <a:xfrm>
            <a:off x="7726680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track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Customer health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274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Q3 FY2026  ·  Jul–Sep</a:t>
            </a:r>
            <a:endParaRPr lang="en-US" sz="1200" dirty="0"/>
          </a:p>
        </p:txBody>
      </p:sp>
      <p:sp>
        <p:nvSpPr>
          <p:cNvPr id="4" name="gauge_tile_1"/>
          <p:cNvSpPr/>
          <p:nvPr/>
        </p:nvSpPr>
        <p:spPr>
          <a:xfrm>
            <a:off x="457200" y="868680"/>
            <a:ext cx="261518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gauge_head_1"/>
          <p:cNvSpPr txBox="1"/>
          <p:nvPr/>
        </p:nvSpPr>
        <p:spPr>
          <a:xfrm>
            <a:off x="640080" y="9784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Net Promoter Score</a:t>
            </a:r>
            <a:endParaRPr lang="en-US" sz="1300" dirty="0"/>
          </a:p>
        </p:txBody>
      </p:sp>
      <p:graphicFrame>
        <p:nvGraphicFramePr>
          <p:cNvPr id="6" name="gauge_chart_1" descr=""/>
          <p:cNvGraphicFramePr/>
          <p:nvPr/>
        </p:nvGraphicFramePr>
        <p:xfrm>
          <a:off x="594360" y="1188720"/>
          <a:ext cx="14173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gauge_value_1"/>
          <p:cNvSpPr txBox="1"/>
          <p:nvPr/>
        </p:nvSpPr>
        <p:spPr>
          <a:xfrm>
            <a:off x="594360" y="1673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47</a:t>
            </a:r>
            <a:endParaRPr lang="en-US" sz="2000" dirty="0"/>
          </a:p>
        </p:txBody>
      </p:sp>
      <p:sp>
        <p:nvSpPr>
          <p:cNvPr id="8" name="gauge_delta_1"/>
          <p:cNvSpPr txBox="1"/>
          <p:nvPr/>
        </p:nvSpPr>
        <p:spPr>
          <a:xfrm>
            <a:off x="205740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▲ 5 vs Q2</a:t>
            </a:r>
            <a:endParaRPr lang="en-US" sz="1200" dirty="0"/>
          </a:p>
        </p:txBody>
      </p:sp>
      <p:sp>
        <p:nvSpPr>
          <p:cNvPr id="9" name="gauge_tile_2"/>
          <p:cNvSpPr/>
          <p:nvPr/>
        </p:nvSpPr>
        <p:spPr>
          <a:xfrm>
            <a:off x="3264408" y="868680"/>
            <a:ext cx="261518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gauge_head_2"/>
          <p:cNvSpPr txBox="1"/>
          <p:nvPr/>
        </p:nvSpPr>
        <p:spPr>
          <a:xfrm>
            <a:off x="3447288" y="9784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Satisfaction (CSAT)</a:t>
            </a:r>
            <a:endParaRPr lang="en-US" sz="1300" dirty="0"/>
          </a:p>
        </p:txBody>
      </p:sp>
      <p:graphicFrame>
        <p:nvGraphicFramePr>
          <p:cNvPr id="11" name="gauge_chart_2" descr=""/>
          <p:cNvGraphicFramePr/>
          <p:nvPr/>
        </p:nvGraphicFramePr>
        <p:xfrm>
          <a:off x="3401568" y="1188720"/>
          <a:ext cx="14173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gauge_value_2"/>
          <p:cNvSpPr txBox="1"/>
          <p:nvPr/>
        </p:nvSpPr>
        <p:spPr>
          <a:xfrm>
            <a:off x="3401568" y="1673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89%</a:t>
            </a:r>
            <a:endParaRPr lang="en-US" sz="2000" dirty="0"/>
          </a:p>
        </p:txBody>
      </p:sp>
      <p:sp>
        <p:nvSpPr>
          <p:cNvPr id="13" name="gauge_delta_2"/>
          <p:cNvSpPr txBox="1"/>
          <p:nvPr/>
        </p:nvSpPr>
        <p:spPr>
          <a:xfrm>
            <a:off x="4864608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▲ 2 pts</a:t>
            </a:r>
            <a:endParaRPr lang="en-US" sz="1200" dirty="0"/>
          </a:p>
        </p:txBody>
      </p:sp>
      <p:sp>
        <p:nvSpPr>
          <p:cNvPr id="14" name="gauge_tile_3"/>
          <p:cNvSpPr/>
          <p:nvPr/>
        </p:nvSpPr>
        <p:spPr>
          <a:xfrm>
            <a:off x="6071616" y="868680"/>
            <a:ext cx="261518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gauge_head_3"/>
          <p:cNvSpPr txBox="1"/>
          <p:nvPr/>
        </p:nvSpPr>
        <p:spPr>
          <a:xfrm>
            <a:off x="6254496" y="9784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Renewal rate</a:t>
            </a:r>
            <a:endParaRPr lang="en-US" sz="1300" dirty="0"/>
          </a:p>
        </p:txBody>
      </p:sp>
      <p:graphicFrame>
        <p:nvGraphicFramePr>
          <p:cNvPr id="16" name="gauge_chart_3" descr=""/>
          <p:cNvGraphicFramePr/>
          <p:nvPr/>
        </p:nvGraphicFramePr>
        <p:xfrm>
          <a:off x="6208776" y="1188720"/>
          <a:ext cx="14173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gauge_value_3"/>
          <p:cNvSpPr txBox="1"/>
          <p:nvPr/>
        </p:nvSpPr>
        <p:spPr>
          <a:xfrm>
            <a:off x="6208776" y="1673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94%</a:t>
            </a:r>
            <a:endParaRPr lang="en-US" sz="2000" dirty="0"/>
          </a:p>
        </p:txBody>
      </p:sp>
      <p:sp>
        <p:nvSpPr>
          <p:cNvPr id="18" name="gauge_delta_3"/>
          <p:cNvSpPr txBox="1"/>
          <p:nvPr/>
        </p:nvSpPr>
        <p:spPr>
          <a:xfrm>
            <a:off x="7671816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▲ 1 pt</a:t>
            </a:r>
            <a:endParaRPr lang="en-US" sz="1200" dirty="0"/>
          </a:p>
        </p:txBody>
      </p:sp>
      <p:sp>
        <p:nvSpPr>
          <p:cNvPr id="19" name="themes_tile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hemes_head"/>
          <p:cNvSpPr txBox="1"/>
          <p:nvPr/>
        </p:nvSpPr>
        <p:spPr>
          <a:xfrm>
            <a:off x="640080" y="32186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Top themes from customer feedback</a:t>
            </a:r>
            <a:endParaRPr lang="en-US" sz="1300" dirty="0"/>
          </a:p>
        </p:txBody>
      </p:sp>
      <p:sp>
        <p:nvSpPr>
          <p:cNvPr id="21" name="theme_icon_bg_1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2" name="theme_icon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739896"/>
            <a:ext cx="246888" cy="246888"/>
          </a:xfrm>
          <a:prstGeom prst="rect">
            <a:avLst/>
          </a:prstGeom>
        </p:spPr>
      </p:pic>
      <p:sp>
        <p:nvSpPr>
          <p:cNvPr id="23" name="theme_head_1"/>
          <p:cNvSpPr txBox="1"/>
          <p:nvPr/>
        </p:nvSpPr>
        <p:spPr>
          <a:xfrm>
            <a:off x="13258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Faster delivery</a:t>
            </a:r>
            <a:endParaRPr lang="en-US" sz="1400" dirty="0"/>
          </a:p>
        </p:txBody>
      </p:sp>
      <p:sp>
        <p:nvSpPr>
          <p:cNvPr id="24" name="theme_body_1"/>
          <p:cNvSpPr txBox="1"/>
          <p:nvPr/>
        </p:nvSpPr>
        <p:spPr>
          <a:xfrm>
            <a:off x="132588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Lead time down 3 days</a:t>
            </a:r>
            <a:endParaRPr lang="en-US" sz="1200" dirty="0"/>
          </a:p>
        </p:txBody>
      </p:sp>
      <p:sp>
        <p:nvSpPr>
          <p:cNvPr id="25" name="theme_icon_bg_2"/>
          <p:cNvSpPr/>
          <p:nvPr/>
        </p:nvSpPr>
        <p:spPr>
          <a:xfrm>
            <a:off x="3383280" y="361188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6" name="theme_icon_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739896"/>
            <a:ext cx="246888" cy="246888"/>
          </a:xfrm>
          <a:prstGeom prst="rect">
            <a:avLst/>
          </a:prstGeom>
        </p:spPr>
      </p:pic>
      <p:sp>
        <p:nvSpPr>
          <p:cNvPr id="27" name="theme_head_2"/>
          <p:cNvSpPr txBox="1"/>
          <p:nvPr/>
        </p:nvSpPr>
        <p:spPr>
          <a:xfrm>
            <a:off x="40233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Support quality</a:t>
            </a:r>
            <a:endParaRPr lang="en-US" sz="1400" dirty="0"/>
          </a:p>
        </p:txBody>
      </p:sp>
      <p:sp>
        <p:nvSpPr>
          <p:cNvPr id="28" name="theme_body_2"/>
          <p:cNvSpPr txBox="1"/>
          <p:nvPr/>
        </p:nvSpPr>
        <p:spPr>
          <a:xfrm>
            <a:off x="402336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First-reply time 2.1 hrs</a:t>
            </a:r>
            <a:endParaRPr lang="en-US" sz="1200" dirty="0"/>
          </a:p>
        </p:txBody>
      </p:sp>
      <p:sp>
        <p:nvSpPr>
          <p:cNvPr id="29" name="theme_icon_bg_3"/>
          <p:cNvSpPr/>
          <p:nvPr/>
        </p:nvSpPr>
        <p:spPr>
          <a:xfrm>
            <a:off x="6080760" y="361188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0" name="theme_icon_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739896"/>
            <a:ext cx="246888" cy="246888"/>
          </a:xfrm>
          <a:prstGeom prst="rect">
            <a:avLst/>
          </a:prstGeom>
        </p:spPr>
      </p:pic>
      <p:sp>
        <p:nvSpPr>
          <p:cNvPr id="31" name="theme_head_3"/>
          <p:cNvSpPr txBox="1"/>
          <p:nvPr/>
        </p:nvSpPr>
        <p:spPr>
          <a:xfrm>
            <a:off x="67208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 requests</a:t>
            </a:r>
            <a:endParaRPr lang="en-US" sz="1400" dirty="0"/>
          </a:p>
        </p:txBody>
      </p:sp>
      <p:sp>
        <p:nvSpPr>
          <p:cNvPr id="32" name="theme_body_3"/>
          <p:cNvSpPr txBox="1"/>
          <p:nvPr/>
        </p:nvSpPr>
        <p:spPr>
          <a:xfrm>
            <a:off x="672084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Bulk ordering most asked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Actions and owners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274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Q3 FY2026  ·  Jul–Sep</a:t>
            </a:r>
            <a:endParaRPr lang="en-US" sz="1200" dirty="0"/>
          </a:p>
        </p:txBody>
      </p:sp>
      <p:sp>
        <p:nvSpPr>
          <p:cNvPr id="4" name="kanban_col_1"/>
          <p:cNvSpPr/>
          <p:nvPr/>
        </p:nvSpPr>
        <p:spPr>
          <a:xfrm>
            <a:off x="457200" y="868680"/>
            <a:ext cx="2615184" cy="3703320"/>
          </a:xfrm>
          <a:prstGeom prst="roundRect">
            <a:avLst>
              <a:gd name="adj" fmla="val 2797"/>
            </a:avLst>
          </a:prstGeom>
          <a:solidFill>
            <a:srgbClr val="E2E7EE"/>
          </a:solidFill>
          <a:ln/>
        </p:spPr>
      </p:sp>
      <p:sp>
        <p:nvSpPr>
          <p:cNvPr id="5" name="kanban_dot_1"/>
          <p:cNvSpPr/>
          <p:nvPr/>
        </p:nvSpPr>
        <p:spPr>
          <a:xfrm>
            <a:off x="640080" y="105156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kanban_head_1"/>
          <p:cNvSpPr txBox="1"/>
          <p:nvPr/>
        </p:nvSpPr>
        <p:spPr>
          <a:xfrm>
            <a:off x="868680" y="978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Completed</a:t>
            </a:r>
            <a:endParaRPr lang="en-US" sz="1400" dirty="0"/>
          </a:p>
        </p:txBody>
      </p:sp>
      <p:sp>
        <p:nvSpPr>
          <p:cNvPr id="7" name="kanban_card_1_1"/>
          <p:cNvSpPr/>
          <p:nvPr/>
        </p:nvSpPr>
        <p:spPr>
          <a:xfrm>
            <a:off x="594360" y="1417320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kanban_text_1_1"/>
          <p:cNvSpPr txBox="1"/>
          <p:nvPr/>
        </p:nvSpPr>
        <p:spPr>
          <a:xfrm>
            <a:off x="749808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Launch customer portal v2</a:t>
            </a:r>
            <a:endParaRPr lang="en-US" sz="1400" dirty="0"/>
          </a:p>
        </p:txBody>
      </p:sp>
      <p:sp>
        <p:nvSpPr>
          <p:cNvPr id="9" name="kanban_owner_1_1"/>
          <p:cNvSpPr txBox="1"/>
          <p:nvPr/>
        </p:nvSpPr>
        <p:spPr>
          <a:xfrm>
            <a:off x="749808" y="20208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L. Chen</a:t>
            </a:r>
            <a:endParaRPr lang="en-US" sz="1100" dirty="0"/>
          </a:p>
        </p:txBody>
      </p:sp>
      <p:sp>
        <p:nvSpPr>
          <p:cNvPr id="10" name="kanban_card_1_2"/>
          <p:cNvSpPr/>
          <p:nvPr/>
        </p:nvSpPr>
        <p:spPr>
          <a:xfrm>
            <a:off x="594360" y="2441448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kanban_text_1_2"/>
          <p:cNvSpPr txBox="1"/>
          <p:nvPr/>
        </p:nvSpPr>
        <p:spPr>
          <a:xfrm>
            <a:off x="749808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Close Q3 hiring plan</a:t>
            </a:r>
            <a:endParaRPr lang="en-US" sz="1400" dirty="0"/>
          </a:p>
        </p:txBody>
      </p:sp>
      <p:sp>
        <p:nvSpPr>
          <p:cNvPr id="12" name="kanban_owner_1_2"/>
          <p:cNvSpPr txBox="1"/>
          <p:nvPr/>
        </p:nvSpPr>
        <p:spPr>
          <a:xfrm>
            <a:off x="749808" y="30449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HR</a:t>
            </a:r>
            <a:endParaRPr lang="en-US" sz="1100" dirty="0"/>
          </a:p>
        </p:txBody>
      </p:sp>
      <p:sp>
        <p:nvSpPr>
          <p:cNvPr id="13" name="kanban_card_1_3"/>
          <p:cNvSpPr/>
          <p:nvPr/>
        </p:nvSpPr>
        <p:spPr>
          <a:xfrm>
            <a:off x="594360" y="3465576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kanban_text_1_3"/>
          <p:cNvSpPr txBox="1"/>
          <p:nvPr/>
        </p:nvSpPr>
        <p:spPr>
          <a:xfrm>
            <a:off x="749808" y="3557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Renew top-10 accounts</a:t>
            </a:r>
            <a:endParaRPr lang="en-US" sz="1400" dirty="0"/>
          </a:p>
        </p:txBody>
      </p:sp>
      <p:sp>
        <p:nvSpPr>
          <p:cNvPr id="15" name="kanban_owner_1_3"/>
          <p:cNvSpPr txBox="1"/>
          <p:nvPr/>
        </p:nvSpPr>
        <p:spPr>
          <a:xfrm>
            <a:off x="749808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Sales</a:t>
            </a:r>
            <a:endParaRPr lang="en-US" sz="1100" dirty="0"/>
          </a:p>
        </p:txBody>
      </p:sp>
      <p:sp>
        <p:nvSpPr>
          <p:cNvPr id="16" name="kanban_col_2"/>
          <p:cNvSpPr/>
          <p:nvPr/>
        </p:nvSpPr>
        <p:spPr>
          <a:xfrm>
            <a:off x="3264408" y="868680"/>
            <a:ext cx="2615184" cy="3703320"/>
          </a:xfrm>
          <a:prstGeom prst="roundRect">
            <a:avLst>
              <a:gd name="adj" fmla="val 2797"/>
            </a:avLst>
          </a:prstGeom>
          <a:solidFill>
            <a:srgbClr val="E2E7EE"/>
          </a:solidFill>
          <a:ln/>
        </p:spPr>
      </p:sp>
      <p:sp>
        <p:nvSpPr>
          <p:cNvPr id="17" name="kanban_dot_2"/>
          <p:cNvSpPr/>
          <p:nvPr/>
        </p:nvSpPr>
        <p:spPr>
          <a:xfrm>
            <a:off x="3447288" y="10515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kanban_head_2"/>
          <p:cNvSpPr txBox="1"/>
          <p:nvPr/>
        </p:nvSpPr>
        <p:spPr>
          <a:xfrm>
            <a:off x="3675888" y="978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 progress</a:t>
            </a:r>
            <a:endParaRPr lang="en-US" sz="1400" dirty="0"/>
          </a:p>
        </p:txBody>
      </p:sp>
      <p:sp>
        <p:nvSpPr>
          <p:cNvPr id="19" name="kanban_card_2_1"/>
          <p:cNvSpPr/>
          <p:nvPr/>
        </p:nvSpPr>
        <p:spPr>
          <a:xfrm>
            <a:off x="3401568" y="1417320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kanban_text_2_1"/>
          <p:cNvSpPr txBox="1"/>
          <p:nvPr/>
        </p:nvSpPr>
        <p:spPr>
          <a:xfrm>
            <a:off x="3557016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Recover pricing engine timeline</a:t>
            </a:r>
            <a:endParaRPr lang="en-US" sz="1400" dirty="0"/>
          </a:p>
        </p:txBody>
      </p:sp>
      <p:sp>
        <p:nvSpPr>
          <p:cNvPr id="21" name="kanban_owner_2_1"/>
          <p:cNvSpPr txBox="1"/>
          <p:nvPr/>
        </p:nvSpPr>
        <p:spPr>
          <a:xfrm>
            <a:off x="3557016" y="20208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R. Iyer</a:t>
            </a:r>
            <a:endParaRPr lang="en-US" sz="1100" dirty="0"/>
          </a:p>
        </p:txBody>
      </p:sp>
      <p:sp>
        <p:nvSpPr>
          <p:cNvPr id="22" name="kanban_card_2_2"/>
          <p:cNvSpPr/>
          <p:nvPr/>
        </p:nvSpPr>
        <p:spPr>
          <a:xfrm>
            <a:off x="3401568" y="2441448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kanban_text_2_2"/>
          <p:cNvSpPr txBox="1"/>
          <p:nvPr/>
        </p:nvSpPr>
        <p:spPr>
          <a:xfrm>
            <a:off x="3557016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Plant 3 vendor selection</a:t>
            </a:r>
            <a:endParaRPr lang="en-US" sz="1400" dirty="0"/>
          </a:p>
        </p:txBody>
      </p:sp>
      <p:sp>
        <p:nvSpPr>
          <p:cNvPr id="24" name="kanban_owner_2_2"/>
          <p:cNvSpPr txBox="1"/>
          <p:nvPr/>
        </p:nvSpPr>
        <p:spPr>
          <a:xfrm>
            <a:off x="3557016" y="30449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J. Costa</a:t>
            </a:r>
            <a:endParaRPr lang="en-US" sz="1100" dirty="0"/>
          </a:p>
        </p:txBody>
      </p:sp>
      <p:sp>
        <p:nvSpPr>
          <p:cNvPr id="25" name="kanban_card_2_3"/>
          <p:cNvSpPr/>
          <p:nvPr/>
        </p:nvSpPr>
        <p:spPr>
          <a:xfrm>
            <a:off x="3401568" y="3465576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kanban_text_2_3"/>
          <p:cNvSpPr txBox="1"/>
          <p:nvPr/>
        </p:nvSpPr>
        <p:spPr>
          <a:xfrm>
            <a:off x="3557016" y="3557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Cut lead time by 2 days</a:t>
            </a:r>
            <a:endParaRPr lang="en-US" sz="1400" dirty="0"/>
          </a:p>
        </p:txBody>
      </p:sp>
      <p:sp>
        <p:nvSpPr>
          <p:cNvPr id="27" name="kanban_owner_2_3"/>
          <p:cNvSpPr txBox="1"/>
          <p:nvPr/>
        </p:nvSpPr>
        <p:spPr>
          <a:xfrm>
            <a:off x="3557016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Ops</a:t>
            </a:r>
            <a:endParaRPr lang="en-US" sz="1100" dirty="0"/>
          </a:p>
        </p:txBody>
      </p:sp>
      <p:sp>
        <p:nvSpPr>
          <p:cNvPr id="28" name="kanban_col_3"/>
          <p:cNvSpPr/>
          <p:nvPr/>
        </p:nvSpPr>
        <p:spPr>
          <a:xfrm>
            <a:off x="6071616" y="868680"/>
            <a:ext cx="2615184" cy="3703320"/>
          </a:xfrm>
          <a:prstGeom prst="roundRect">
            <a:avLst>
              <a:gd name="adj" fmla="val 2797"/>
            </a:avLst>
          </a:prstGeom>
          <a:solidFill>
            <a:srgbClr val="E2E7EE"/>
          </a:solidFill>
          <a:ln/>
        </p:spPr>
      </p:sp>
      <p:sp>
        <p:nvSpPr>
          <p:cNvPr id="29" name="kanban_dot_3"/>
          <p:cNvSpPr/>
          <p:nvPr/>
        </p:nvSpPr>
        <p:spPr>
          <a:xfrm>
            <a:off x="6254496" y="1051560"/>
            <a:ext cx="146304" cy="146304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0" name="kanban_head_3"/>
          <p:cNvSpPr txBox="1"/>
          <p:nvPr/>
        </p:nvSpPr>
        <p:spPr>
          <a:xfrm>
            <a:off x="6483096" y="978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Next quarter</a:t>
            </a:r>
            <a:endParaRPr lang="en-US" sz="1400" dirty="0"/>
          </a:p>
        </p:txBody>
      </p:sp>
      <p:sp>
        <p:nvSpPr>
          <p:cNvPr id="31" name="kanban_card_3_1"/>
          <p:cNvSpPr/>
          <p:nvPr/>
        </p:nvSpPr>
        <p:spPr>
          <a:xfrm>
            <a:off x="6208776" y="1417320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kanban_text_3_1"/>
          <p:cNvSpPr txBox="1"/>
          <p:nvPr/>
        </p:nvSpPr>
        <p:spPr>
          <a:xfrm>
            <a:off x="6364224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FY27 budget sign-off</a:t>
            </a:r>
            <a:endParaRPr lang="en-US" sz="1400" dirty="0"/>
          </a:p>
        </p:txBody>
      </p:sp>
      <p:sp>
        <p:nvSpPr>
          <p:cNvPr id="33" name="kanban_owner_3_1"/>
          <p:cNvSpPr txBox="1"/>
          <p:nvPr/>
        </p:nvSpPr>
        <p:spPr>
          <a:xfrm>
            <a:off x="6364224" y="20208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CFO</a:t>
            </a:r>
            <a:endParaRPr lang="en-US" sz="1100" dirty="0"/>
          </a:p>
        </p:txBody>
      </p:sp>
      <p:sp>
        <p:nvSpPr>
          <p:cNvPr id="34" name="kanban_card_3_2"/>
          <p:cNvSpPr/>
          <p:nvPr/>
        </p:nvSpPr>
        <p:spPr>
          <a:xfrm>
            <a:off x="6208776" y="2441448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kanban_text_3_2"/>
          <p:cNvSpPr txBox="1"/>
          <p:nvPr/>
        </p:nvSpPr>
        <p:spPr>
          <a:xfrm>
            <a:off x="6364224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Expand into Vietnam</a:t>
            </a:r>
            <a:endParaRPr lang="en-US" sz="1400" dirty="0"/>
          </a:p>
        </p:txBody>
      </p:sp>
      <p:sp>
        <p:nvSpPr>
          <p:cNvPr id="36" name="kanban_owner_3_2"/>
          <p:cNvSpPr txBox="1"/>
          <p:nvPr/>
        </p:nvSpPr>
        <p:spPr>
          <a:xfrm>
            <a:off x="6364224" y="30449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Strategy</a:t>
            </a:r>
            <a:endParaRPr lang="en-US" sz="1100" dirty="0"/>
          </a:p>
        </p:txBody>
      </p:sp>
      <p:sp>
        <p:nvSpPr>
          <p:cNvPr id="37" name="kanban_card_3_3"/>
          <p:cNvSpPr/>
          <p:nvPr/>
        </p:nvSpPr>
        <p:spPr>
          <a:xfrm>
            <a:off x="6208776" y="3465576"/>
            <a:ext cx="2340864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kanban_text_3_3"/>
          <p:cNvSpPr txBox="1"/>
          <p:nvPr/>
        </p:nvSpPr>
        <p:spPr>
          <a:xfrm>
            <a:off x="6364224" y="3557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Bulk-ordering feature</a:t>
            </a:r>
            <a:endParaRPr lang="en-US" sz="1400" dirty="0"/>
          </a:p>
        </p:txBody>
      </p:sp>
      <p:sp>
        <p:nvSpPr>
          <p:cNvPr id="39" name="kanban_owner_3_3"/>
          <p:cNvSpPr txBox="1"/>
          <p:nvPr/>
        </p:nvSpPr>
        <p:spPr>
          <a:xfrm>
            <a:off x="6364224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Product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BR Dashboard">
  <a:themeElements>
    <a:clrScheme name="QBR Dashboard">
      <a:dk1>
        <a:srgbClr val="1F2937"/>
      </a:dk1>
      <a:lt1>
        <a:srgbClr val="FFFFFF"/>
      </a:lt1>
      <a:dk2>
        <a:srgbClr val="233044"/>
      </a:dk2>
      <a:lt2>
        <a:srgbClr val="EEF1F5"/>
      </a:lt2>
      <a:accent1>
        <a:srgbClr val="6D28D9"/>
      </a:accent1>
      <a:accent2>
        <a:srgbClr val="14B8A6"/>
      </a:accent2>
      <a:accent3>
        <a:srgbClr val="F59E0B"/>
      </a:accent3>
      <a:accent4>
        <a:srgbClr val="EF4444"/>
      </a:accent4>
      <a:accent5>
        <a:srgbClr val="22C55E"/>
      </a:accent5>
      <a:accent6>
        <a:srgbClr val="94A3B8"/>
      </a:accent6>
      <a:hlink>
        <a:srgbClr val="6D28D9"/>
      </a:hlink>
      <a:folHlink>
        <a:srgbClr val="233044"/>
      </a:folHlink>
    </a:clrScheme>
    <a:fontScheme name="QBR Dash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Vertex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 Q3 FY2026</dc:title>
  <dc:subject>PptxGenJS Presentation</dc:subject>
  <dc:creator>Vertex Industries</dc:creator>
  <cp:lastModifiedBy>Vertex Industries</cp:lastModifiedBy>
  <cp:revision>1</cp:revision>
  <dcterms:created xsi:type="dcterms:W3CDTF">2026-10-26T05:30:39Z</dcterms:created>
  <dcterms:modified xsi:type="dcterms:W3CDTF">2026-10-26T05:30:39Z</dcterms:modified>
</cp:coreProperties>
</file>