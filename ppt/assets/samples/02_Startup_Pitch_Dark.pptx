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d62d40a-34af-73e3-d479-753e24c2f679}">
          <p14:sldIdLst>
            <p14:sldId id="256"/>
          </p14:sldIdLst>
        </p14:section>
        <p14:section name="Story" id="{4feef852-b022-0854-0143-54134cb31d71}">
          <p14:sldIdLst>
            <p14:sldId id="257"/>
            <p14:sldId id="258"/>
          </p14:sldIdLst>
        </p14:section>
        <p14:section name="Traction" id="{2e78a130-7c6a-c29f-7d7b-51bbff317211}">
          <p14:sldIdLst>
            <p14:sldId id="259"/>
            <p14:sldId id="260"/>
          </p14:sldIdLst>
        </p14:section>
        <p14:section name="Team and ask" id="{e762993d-96f7-dd79-c6a2-31d30e8443ef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FF5A36"/>
            </a:solidFill>
            <a:ln w="38100" cap="flat">
              <a:solidFill>
                <a:srgbClr val="FF5A3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5A36"/>
              </a:solidFill>
              <a:ln w="9525" cap="flat">
                <a:solidFill>
                  <a:srgbClr val="FF5A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3.1</c:v>
                </c:pt>
                <c:pt idx="1">
                  <c:v>4</c:v>
                </c:pt>
                <c:pt idx="2">
                  <c:v>5.2</c:v>
                </c:pt>
                <c:pt idx="3">
                  <c:v>6.6</c:v>
                </c:pt>
                <c:pt idx="4">
                  <c:v>8.1</c:v>
                </c:pt>
                <c:pt idx="5">
                  <c:v>10.2</c:v>
                </c:pt>
                <c:pt idx="6">
                  <c:v>12.4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A2A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36"/>
              </a:solidFill>
              <a:ln w="25400" cap="flat">
                <a:solidFill>
                  <a:srgbClr val="0E0E1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8B5FF"/>
              </a:solidFill>
              <a:ln w="25400" cap="flat">
                <a:solidFill>
                  <a:srgbClr val="0E0E1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B199"/>
              </a:solidFill>
              <a:ln w="25400" cap="flat">
                <a:solidFill>
                  <a:srgbClr val="0E0E12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EE7B7"/>
              </a:solidFill>
              <a:ln w="25400" cap="flat">
                <a:solidFill>
                  <a:srgbClr val="0E0E1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0E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0E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0E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0E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and AI</c:v>
                </c:pt>
                <c:pt idx="1">
                  <c:v>Sales and marketing</c:v>
                </c:pt>
                <c:pt idx="2">
                  <c:v>New markets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-914400"/>
            <a:ext cx="4754880" cy="47548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00400"/>
            <a:ext cx="1371600" cy="13716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09728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2468880"/>
            <a:ext cx="4389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ICKER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lumen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097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lumen</a:t>
            </a:r>
            <a:endParaRPr lang="en-US" sz="66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2468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AI that cuts commercial energy bills by 30%</a:t>
            </a:r>
            <a:endParaRPr lang="en-US" sz="2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SERIES B  ·  INVESTOR DECK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Commercial buildings waste a third of the energy they pay for</a:t>
            </a:r>
            <a:endParaRPr lang="en-US" sz="3000" dirty="0"/>
          </a:p>
        </p:txBody>
      </p:sp>
      <p:sp>
        <p:nvSpPr>
          <p:cNvPr id="4" name="problem_stat_1"/>
          <p:cNvSpPr txBox="1"/>
          <p:nvPr/>
        </p:nvSpPr>
        <p:spPr>
          <a:xfrm>
            <a:off x="54864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30%</a:t>
            </a:r>
            <a:endParaRPr lang="en-US" sz="5400" dirty="0"/>
          </a:p>
        </p:txBody>
      </p:sp>
      <p:sp>
        <p:nvSpPr>
          <p:cNvPr id="5" name="problem_label_1"/>
          <p:cNvSpPr txBox="1"/>
          <p:nvPr/>
        </p:nvSpPr>
        <p:spPr>
          <a:xfrm>
            <a:off x="54864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of building energy is wasted on empty or over-cooled space</a:t>
            </a:r>
            <a:endParaRPr lang="en-US" sz="1500" dirty="0"/>
          </a:p>
        </p:txBody>
      </p:sp>
      <p:sp>
        <p:nvSpPr>
          <p:cNvPr id="6" name="problem_stat_2"/>
          <p:cNvSpPr txBox="1"/>
          <p:nvPr/>
        </p:nvSpPr>
        <p:spPr>
          <a:xfrm>
            <a:off x="333756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$60B</a:t>
            </a:r>
            <a:endParaRPr lang="en-US" sz="5400" dirty="0"/>
          </a:p>
        </p:txBody>
      </p:sp>
      <p:sp>
        <p:nvSpPr>
          <p:cNvPr id="7" name="problem_label_2"/>
          <p:cNvSpPr txBox="1"/>
          <p:nvPr/>
        </p:nvSpPr>
        <p:spPr>
          <a:xfrm>
            <a:off x="333756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lost every year in the US alone</a:t>
            </a:r>
            <a:endParaRPr lang="en-US" sz="1500" dirty="0"/>
          </a:p>
        </p:txBody>
      </p:sp>
      <p:sp>
        <p:nvSpPr>
          <p:cNvPr id="8" name="problem_stat_3"/>
          <p:cNvSpPr txBox="1"/>
          <p:nvPr/>
        </p:nvSpPr>
        <p:spPr>
          <a:xfrm>
            <a:off x="612648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 in 5</a:t>
            </a:r>
            <a:endParaRPr lang="en-US" sz="5400" dirty="0"/>
          </a:p>
        </p:txBody>
      </p:sp>
      <p:sp>
        <p:nvSpPr>
          <p:cNvPr id="9" name="problem_label_3"/>
          <p:cNvSpPr txBox="1"/>
          <p:nvPr/>
        </p:nvSpPr>
        <p:spPr>
          <a:xfrm>
            <a:off x="612648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facility teams see usage in real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Lumen learns how each building runs, then tunes it automatically</a:t>
            </a:r>
            <a:endParaRPr lang="en-US" sz="3000" dirty="0"/>
          </a:p>
        </p:txBody>
      </p:sp>
      <p:sp>
        <p:nvSpPr>
          <p:cNvPr id="4" name="solution_card_1"/>
          <p:cNvSpPr/>
          <p:nvPr/>
        </p:nvSpPr>
        <p:spPr>
          <a:xfrm>
            <a:off x="548640" y="2240280"/>
            <a:ext cx="2514600" cy="219456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5" name="solution_icon_bg_1"/>
          <p:cNvSpPr/>
          <p:nvPr/>
        </p:nvSpPr>
        <p:spPr>
          <a:xfrm>
            <a:off x="822960" y="2514600"/>
            <a:ext cx="640080" cy="64008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5A36"/>
            </a:solidFill>
            <a:prstDash val="solid"/>
          </a:ln>
        </p:spPr>
      </p:sp>
      <p:pic>
        <p:nvPicPr>
          <p:cNvPr id="6" name="solution_icon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670048"/>
            <a:ext cx="329184" cy="329184"/>
          </a:xfrm>
          <a:prstGeom prst="rect">
            <a:avLst/>
          </a:prstGeom>
        </p:spPr>
      </p:pic>
      <p:sp>
        <p:nvSpPr>
          <p:cNvPr id="7" name="solution_head_1"/>
          <p:cNvSpPr txBox="1"/>
          <p:nvPr/>
        </p:nvSpPr>
        <p:spPr>
          <a:xfrm>
            <a:off x="82296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Connect</a:t>
            </a:r>
            <a:endParaRPr lang="en-US" sz="1800" dirty="0"/>
          </a:p>
        </p:txBody>
      </p:sp>
      <p:sp>
        <p:nvSpPr>
          <p:cNvPr id="8" name="solution_body_1"/>
          <p:cNvSpPr txBox="1"/>
          <p:nvPr/>
        </p:nvSpPr>
        <p:spPr>
          <a:xfrm>
            <a:off x="82296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Plugs into existing building systems in under a day</a:t>
            </a:r>
            <a:endParaRPr lang="en-US" sz="1400" dirty="0"/>
          </a:p>
        </p:txBody>
      </p:sp>
      <p:sp>
        <p:nvSpPr>
          <p:cNvPr id="9" name="solution_card_2"/>
          <p:cNvSpPr/>
          <p:nvPr/>
        </p:nvSpPr>
        <p:spPr>
          <a:xfrm>
            <a:off x="3291840" y="2240280"/>
            <a:ext cx="2514600" cy="219456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0" name="solution_icon_bg_2"/>
          <p:cNvSpPr/>
          <p:nvPr/>
        </p:nvSpPr>
        <p:spPr>
          <a:xfrm>
            <a:off x="3566160" y="2514600"/>
            <a:ext cx="640080" cy="64008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5A36"/>
            </a:solidFill>
            <a:prstDash val="solid"/>
          </a:ln>
        </p:spPr>
      </p:sp>
      <p:pic>
        <p:nvPicPr>
          <p:cNvPr id="11" name="solution_icon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670048"/>
            <a:ext cx="329184" cy="329184"/>
          </a:xfrm>
          <a:prstGeom prst="rect">
            <a:avLst/>
          </a:prstGeom>
        </p:spPr>
      </p:pic>
      <p:sp>
        <p:nvSpPr>
          <p:cNvPr id="12" name="solution_head_2"/>
          <p:cNvSpPr txBox="1"/>
          <p:nvPr/>
        </p:nvSpPr>
        <p:spPr>
          <a:xfrm>
            <a:off x="356616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Learn</a:t>
            </a:r>
            <a:endParaRPr lang="en-US" sz="1800" dirty="0"/>
          </a:p>
        </p:txBody>
      </p:sp>
      <p:sp>
        <p:nvSpPr>
          <p:cNvPr id="13" name="solution_body_2"/>
          <p:cNvSpPr txBox="1"/>
          <p:nvPr/>
        </p:nvSpPr>
        <p:spPr>
          <a:xfrm>
            <a:off x="356616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Models occupancy, weather and tariffs for every zone</a:t>
            </a:r>
            <a:endParaRPr lang="en-US" sz="1400" dirty="0"/>
          </a:p>
        </p:txBody>
      </p:sp>
      <p:sp>
        <p:nvSpPr>
          <p:cNvPr id="14" name="solution_card_3"/>
          <p:cNvSpPr/>
          <p:nvPr/>
        </p:nvSpPr>
        <p:spPr>
          <a:xfrm>
            <a:off x="6035040" y="2240280"/>
            <a:ext cx="2514600" cy="219456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5" name="solution_icon_bg_3"/>
          <p:cNvSpPr/>
          <p:nvPr/>
        </p:nvSpPr>
        <p:spPr>
          <a:xfrm>
            <a:off x="6309360" y="2514600"/>
            <a:ext cx="640080" cy="64008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5A36"/>
            </a:solidFill>
            <a:prstDash val="solid"/>
          </a:ln>
        </p:spPr>
      </p:sp>
      <p:pic>
        <p:nvPicPr>
          <p:cNvPr id="16" name="solution_icon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70048"/>
            <a:ext cx="329184" cy="329184"/>
          </a:xfrm>
          <a:prstGeom prst="rect">
            <a:avLst/>
          </a:prstGeom>
        </p:spPr>
      </p:pic>
      <p:sp>
        <p:nvSpPr>
          <p:cNvPr id="17" name="solution_head_3"/>
          <p:cNvSpPr txBox="1"/>
          <p:nvPr/>
        </p:nvSpPr>
        <p:spPr>
          <a:xfrm>
            <a:off x="630936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Optimise</a:t>
            </a:r>
            <a:endParaRPr lang="en-US" sz="1800" dirty="0"/>
          </a:p>
        </p:txBody>
      </p:sp>
      <p:sp>
        <p:nvSpPr>
          <p:cNvPr id="18" name="solution_body_3"/>
          <p:cNvSpPr txBox="1"/>
          <p:nvPr/>
        </p:nvSpPr>
        <p:spPr>
          <a:xfrm>
            <a:off x="630936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Adjusts HVAC and lighting every 15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TRACTION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ARR has grown 4x in 18 months</a:t>
            </a:r>
            <a:endParaRPr lang="en-US" sz="3000" dirty="0"/>
          </a:p>
        </p:txBody>
      </p:sp>
      <p:sp>
        <p:nvSpPr>
          <p:cNvPr id="4" name="arr_value"/>
          <p:cNvSpPr txBox="1"/>
          <p:nvPr/>
        </p:nvSpPr>
        <p:spPr>
          <a:xfrm>
            <a:off x="548640" y="1828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$12.4M</a:t>
            </a:r>
            <a:endParaRPr lang="en-US" sz="5400" dirty="0"/>
          </a:p>
        </p:txBody>
      </p:sp>
      <p:sp>
        <p:nvSpPr>
          <p:cNvPr id="5" name="arr_label"/>
          <p:cNvSpPr txBox="1"/>
          <p:nvPr/>
        </p:nvSpPr>
        <p:spPr>
          <a:xfrm>
            <a:off x="5486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annual recurring revenue</a:t>
            </a:r>
            <a:endParaRPr lang="en-US" sz="1500" dirty="0"/>
          </a:p>
        </p:txBody>
      </p:sp>
      <p:sp>
        <p:nvSpPr>
          <p:cNvPr id="6" name="traction_stat_1"/>
          <p:cNvSpPr txBox="1"/>
          <p:nvPr/>
        </p:nvSpPr>
        <p:spPr>
          <a:xfrm>
            <a:off x="54864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142  </a:t>
            </a:r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</a:rPr>
              <a:t>customers</a:t>
            </a:r>
            <a:endParaRPr lang="en-US" sz="2000" dirty="0"/>
          </a:p>
        </p:txBody>
      </p:sp>
      <p:sp>
        <p:nvSpPr>
          <p:cNvPr id="7" name="traction_stat_2"/>
          <p:cNvSpPr txBox="1"/>
          <p:nvPr/>
        </p:nvSpPr>
        <p:spPr>
          <a:xfrm>
            <a:off x="54864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128%  </a:t>
            </a:r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</a:rPr>
              <a:t>net revenue retention</a:t>
            </a:r>
            <a:endParaRPr lang="en-US" sz="2000" dirty="0"/>
          </a:p>
        </p:txBody>
      </p:sp>
      <p:graphicFrame>
        <p:nvGraphicFramePr>
          <p:cNvPr id="8" name="arr_chart" descr=""/>
          <p:cNvGraphicFramePr/>
          <p:nvPr/>
        </p:nvGraphicFramePr>
        <p:xfrm>
          <a:off x="3931920" y="173736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simple per-building subscription with strong unit economics</a:t>
            </a:r>
            <a:endParaRPr lang="en-US" sz="3000" dirty="0"/>
          </a:p>
        </p:txBody>
      </p:sp>
      <p:sp>
        <p:nvSpPr>
          <p:cNvPr id="4" name="tier_card_1"/>
          <p:cNvSpPr/>
          <p:nvPr/>
        </p:nvSpPr>
        <p:spPr>
          <a:xfrm>
            <a:off x="548640" y="2057400"/>
            <a:ext cx="2514600" cy="2423160"/>
          </a:xfrm>
          <a:prstGeom prst="roundRect">
            <a:avLst>
              <a:gd name="adj" fmla="val 5660"/>
            </a:avLst>
          </a:prstGeom>
          <a:solidFill>
            <a:schemeClr val="tx2"/>
          </a:solidFill>
          <a:ln/>
        </p:spPr>
      </p:sp>
      <p:sp>
        <p:nvSpPr>
          <p:cNvPr id="5" name="tier_name_1"/>
          <p:cNvSpPr txBox="1"/>
          <p:nvPr/>
        </p:nvSpPr>
        <p:spPr>
          <a:xfrm>
            <a:off x="8229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B5FF"/>
                </a:solidFill>
              </a:rPr>
              <a:t>STARTER</a:t>
            </a:r>
            <a:endParaRPr lang="en-US" sz="1200" dirty="0"/>
          </a:p>
        </p:txBody>
      </p:sp>
      <p:sp>
        <p:nvSpPr>
          <p:cNvPr id="6" name="tier_price_1"/>
          <p:cNvSpPr txBox="1"/>
          <p:nvPr/>
        </p:nvSpPr>
        <p:spPr>
          <a:xfrm>
            <a:off x="82296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$400</a:t>
            </a:r>
            <a:endParaRPr lang="en-US" sz="3200" dirty="0"/>
          </a:p>
        </p:txBody>
      </p:sp>
      <p:sp>
        <p:nvSpPr>
          <p:cNvPr id="7" name="tier_unit_1"/>
          <p:cNvSpPr txBox="1"/>
          <p:nvPr/>
        </p:nvSpPr>
        <p:spPr>
          <a:xfrm>
            <a:off x="8229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per building / month</a:t>
            </a:r>
            <a:endParaRPr lang="en-US" sz="1200" dirty="0"/>
          </a:p>
        </p:txBody>
      </p:sp>
      <p:sp>
        <p:nvSpPr>
          <p:cNvPr id="8" name="tier_features_1"/>
          <p:cNvSpPr txBox="1"/>
          <p:nvPr/>
        </p:nvSpPr>
        <p:spPr>
          <a:xfrm>
            <a:off x="82296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Up to 50,000 sq 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Monthly reports</a:t>
            </a:r>
            <a:endParaRPr lang="en-US" sz="1400" dirty="0"/>
          </a:p>
        </p:txBody>
      </p:sp>
      <p:sp>
        <p:nvSpPr>
          <p:cNvPr id="9" name="tier_card_2"/>
          <p:cNvSpPr/>
          <p:nvPr/>
        </p:nvSpPr>
        <p:spPr>
          <a:xfrm>
            <a:off x="3291840" y="2057400"/>
            <a:ext cx="2514600" cy="2423160"/>
          </a:xfrm>
          <a:prstGeom prst="roundRect">
            <a:avLst>
              <a:gd name="adj" fmla="val 5660"/>
            </a:avLst>
          </a:prstGeom>
          <a:solidFill>
            <a:schemeClr val="accent1"/>
          </a:solidFill>
          <a:ln/>
        </p:spPr>
      </p:sp>
      <p:sp>
        <p:nvSpPr>
          <p:cNvPr id="10" name="tier_name_2"/>
          <p:cNvSpPr txBox="1"/>
          <p:nvPr/>
        </p:nvSpPr>
        <p:spPr>
          <a:xfrm>
            <a:off x="35661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0E12"/>
                </a:solidFill>
              </a:rPr>
              <a:t>GROWTH</a:t>
            </a:r>
            <a:endParaRPr lang="en-US" sz="1200" dirty="0"/>
          </a:p>
        </p:txBody>
      </p:sp>
      <p:sp>
        <p:nvSpPr>
          <p:cNvPr id="11" name="tier_price_2"/>
          <p:cNvSpPr txBox="1"/>
          <p:nvPr/>
        </p:nvSpPr>
        <p:spPr>
          <a:xfrm>
            <a:off x="356616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E12"/>
                </a:solidFill>
              </a:rPr>
              <a:t>$900</a:t>
            </a:r>
            <a:endParaRPr lang="en-US" sz="3200" dirty="0"/>
          </a:p>
        </p:txBody>
      </p:sp>
      <p:sp>
        <p:nvSpPr>
          <p:cNvPr id="12" name="tier_unit_2"/>
          <p:cNvSpPr txBox="1"/>
          <p:nvPr/>
        </p:nvSpPr>
        <p:spPr>
          <a:xfrm>
            <a:off x="35661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E12"/>
                </a:solidFill>
              </a:rPr>
              <a:t>per building / month</a:t>
            </a:r>
            <a:endParaRPr lang="en-US" sz="1200" dirty="0"/>
          </a:p>
        </p:txBody>
      </p:sp>
      <p:sp>
        <p:nvSpPr>
          <p:cNvPr id="13" name="tier_features_2"/>
          <p:cNvSpPr txBox="1"/>
          <p:nvPr/>
        </p:nvSpPr>
        <p:spPr>
          <a:xfrm>
            <a:off x="356616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0E12"/>
                </a:solidFill>
              </a:rPr>
              <a:t>Unlimited zones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0E12"/>
                </a:solidFill>
              </a:rPr>
              <a:t>Live optimisation</a:t>
            </a:r>
            <a:endParaRPr lang="en-US" sz="1400" dirty="0"/>
          </a:p>
        </p:txBody>
      </p:sp>
      <p:sp>
        <p:nvSpPr>
          <p:cNvPr id="14" name="tier_card_3"/>
          <p:cNvSpPr/>
          <p:nvPr/>
        </p:nvSpPr>
        <p:spPr>
          <a:xfrm>
            <a:off x="6035040" y="2057400"/>
            <a:ext cx="2514600" cy="2423160"/>
          </a:xfrm>
          <a:prstGeom prst="roundRect">
            <a:avLst>
              <a:gd name="adj" fmla="val 5660"/>
            </a:avLst>
          </a:prstGeom>
          <a:solidFill>
            <a:schemeClr val="tx2"/>
          </a:solidFill>
          <a:ln/>
        </p:spPr>
      </p:sp>
      <p:sp>
        <p:nvSpPr>
          <p:cNvPr id="15" name="tier_name_3"/>
          <p:cNvSpPr txBox="1"/>
          <p:nvPr/>
        </p:nvSpPr>
        <p:spPr>
          <a:xfrm>
            <a:off x="63093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B5FF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16" name="tier_price_3"/>
          <p:cNvSpPr txBox="1"/>
          <p:nvPr/>
        </p:nvSpPr>
        <p:spPr>
          <a:xfrm>
            <a:off x="630936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Custom</a:t>
            </a:r>
            <a:endParaRPr lang="en-US" sz="3200" dirty="0"/>
          </a:p>
        </p:txBody>
      </p:sp>
      <p:sp>
        <p:nvSpPr>
          <p:cNvPr id="17" name="tier_unit_3"/>
          <p:cNvSpPr txBox="1"/>
          <p:nvPr/>
        </p:nvSpPr>
        <p:spPr>
          <a:xfrm>
            <a:off x="63093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for 25+ buildings</a:t>
            </a:r>
            <a:endParaRPr lang="en-US" sz="1200" dirty="0"/>
          </a:p>
        </p:txBody>
      </p:sp>
      <p:sp>
        <p:nvSpPr>
          <p:cNvPr id="18" name="tier_features_3"/>
          <p:cNvSpPr txBox="1"/>
          <p:nvPr/>
        </p:nvSpPr>
        <p:spPr>
          <a:xfrm>
            <a:off x="630936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Portfolio dashboards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Dedicated success team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Operators who have built and scaled energy software before</a:t>
            </a:r>
            <a:endParaRPr lang="en-US" sz="3000" dirty="0"/>
          </a:p>
        </p:txBody>
      </p:sp>
      <p:sp>
        <p:nvSpPr>
          <p:cNvPr id="4" name="team_avatar_1"/>
          <p:cNvSpPr/>
          <p:nvPr/>
        </p:nvSpPr>
        <p:spPr>
          <a:xfrm>
            <a:off x="868680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am_initials_1"/>
          <p:cNvSpPr txBox="1"/>
          <p:nvPr/>
        </p:nvSpPr>
        <p:spPr>
          <a:xfrm>
            <a:off x="86868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0E12"/>
                </a:solidFill>
              </a:rPr>
              <a:t>PR</a:t>
            </a:r>
            <a:endParaRPr lang="en-US" sz="2800" dirty="0"/>
          </a:p>
        </p:txBody>
      </p:sp>
      <p:sp>
        <p:nvSpPr>
          <p:cNvPr id="6" name="team_name_1"/>
          <p:cNvSpPr txBox="1"/>
          <p:nvPr/>
        </p:nvSpPr>
        <p:spPr>
          <a:xfrm>
            <a:off x="5029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Priya Raman</a:t>
            </a:r>
            <a:endParaRPr lang="en-US" sz="1600" dirty="0"/>
          </a:p>
        </p:txBody>
      </p:sp>
      <p:sp>
        <p:nvSpPr>
          <p:cNvPr id="7" name="team_role_1"/>
          <p:cNvSpPr txBox="1"/>
          <p:nvPr/>
        </p:nvSpPr>
        <p:spPr>
          <a:xfrm>
            <a:off x="5029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CEO</a:t>
            </a:r>
            <a:endParaRPr lang="en-US" sz="1300" dirty="0"/>
          </a:p>
        </p:txBody>
      </p:sp>
      <p:sp>
        <p:nvSpPr>
          <p:cNvPr id="8" name="team_prev_1"/>
          <p:cNvSpPr txBox="1"/>
          <p:nvPr/>
        </p:nvSpPr>
        <p:spPr>
          <a:xfrm>
            <a:off x="5029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ex-Schneider Electric</a:t>
            </a:r>
            <a:endParaRPr lang="en-US" sz="1200" dirty="0"/>
          </a:p>
        </p:txBody>
      </p:sp>
      <p:sp>
        <p:nvSpPr>
          <p:cNvPr id="9" name="team_avatar_2"/>
          <p:cNvSpPr/>
          <p:nvPr/>
        </p:nvSpPr>
        <p:spPr>
          <a:xfrm>
            <a:off x="2926080" y="196596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am_initials_2"/>
          <p:cNvSpPr txBox="1"/>
          <p:nvPr/>
        </p:nvSpPr>
        <p:spPr>
          <a:xfrm>
            <a:off x="292608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0E12"/>
                </a:solidFill>
              </a:rPr>
              <a:t>DO</a:t>
            </a:r>
            <a:endParaRPr lang="en-US" sz="2800" dirty="0"/>
          </a:p>
        </p:txBody>
      </p:sp>
      <p:sp>
        <p:nvSpPr>
          <p:cNvPr id="11" name="team_name_2"/>
          <p:cNvSpPr txBox="1"/>
          <p:nvPr/>
        </p:nvSpPr>
        <p:spPr>
          <a:xfrm>
            <a:off x="25603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Daniel Ortiz</a:t>
            </a:r>
            <a:endParaRPr lang="en-US" sz="1600" dirty="0"/>
          </a:p>
        </p:txBody>
      </p:sp>
      <p:sp>
        <p:nvSpPr>
          <p:cNvPr id="12" name="team_role_2"/>
          <p:cNvSpPr txBox="1"/>
          <p:nvPr/>
        </p:nvSpPr>
        <p:spPr>
          <a:xfrm>
            <a:off x="25603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CTO</a:t>
            </a:r>
            <a:endParaRPr lang="en-US" sz="1300" dirty="0"/>
          </a:p>
        </p:txBody>
      </p:sp>
      <p:sp>
        <p:nvSpPr>
          <p:cNvPr id="13" name="team_prev_2"/>
          <p:cNvSpPr txBox="1"/>
          <p:nvPr/>
        </p:nvSpPr>
        <p:spPr>
          <a:xfrm>
            <a:off x="25603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ex-Google Nest</a:t>
            </a:r>
            <a:endParaRPr lang="en-US" sz="1200" dirty="0"/>
          </a:p>
        </p:txBody>
      </p:sp>
      <p:sp>
        <p:nvSpPr>
          <p:cNvPr id="14" name="team_avatar_3"/>
          <p:cNvSpPr/>
          <p:nvPr/>
        </p:nvSpPr>
        <p:spPr>
          <a:xfrm>
            <a:off x="4983480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am_initials_3"/>
          <p:cNvSpPr txBox="1"/>
          <p:nvPr/>
        </p:nvSpPr>
        <p:spPr>
          <a:xfrm>
            <a:off x="498348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0E12"/>
                </a:solidFill>
              </a:rPr>
              <a:t>ML</a:t>
            </a:r>
            <a:endParaRPr lang="en-US" sz="2800" dirty="0"/>
          </a:p>
        </p:txBody>
      </p:sp>
      <p:sp>
        <p:nvSpPr>
          <p:cNvPr id="16" name="team_name_3"/>
          <p:cNvSpPr txBox="1"/>
          <p:nvPr/>
        </p:nvSpPr>
        <p:spPr>
          <a:xfrm>
            <a:off x="46177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Mei Lin</a:t>
            </a:r>
            <a:endParaRPr lang="en-US" sz="1600" dirty="0"/>
          </a:p>
        </p:txBody>
      </p:sp>
      <p:sp>
        <p:nvSpPr>
          <p:cNvPr id="17" name="team_role_3"/>
          <p:cNvSpPr txBox="1"/>
          <p:nvPr/>
        </p:nvSpPr>
        <p:spPr>
          <a:xfrm>
            <a:off x="46177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COO</a:t>
            </a:r>
            <a:endParaRPr lang="en-US" sz="1300" dirty="0"/>
          </a:p>
        </p:txBody>
      </p:sp>
      <p:sp>
        <p:nvSpPr>
          <p:cNvPr id="18" name="team_prev_3"/>
          <p:cNvSpPr txBox="1"/>
          <p:nvPr/>
        </p:nvSpPr>
        <p:spPr>
          <a:xfrm>
            <a:off x="46177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ex-Siemens Buildings</a:t>
            </a:r>
            <a:endParaRPr lang="en-US" sz="1200" dirty="0"/>
          </a:p>
        </p:txBody>
      </p:sp>
      <p:sp>
        <p:nvSpPr>
          <p:cNvPr id="19" name="team_avatar_4"/>
          <p:cNvSpPr/>
          <p:nvPr/>
        </p:nvSpPr>
        <p:spPr>
          <a:xfrm>
            <a:off x="7040880" y="196596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am_initials_4"/>
          <p:cNvSpPr txBox="1"/>
          <p:nvPr/>
        </p:nvSpPr>
        <p:spPr>
          <a:xfrm>
            <a:off x="704088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0E12"/>
                </a:solidFill>
              </a:rPr>
              <a:t>SO</a:t>
            </a:r>
            <a:endParaRPr lang="en-US" sz="2800" dirty="0"/>
          </a:p>
        </p:txBody>
      </p:sp>
      <p:sp>
        <p:nvSpPr>
          <p:cNvPr id="21" name="team_name_4"/>
          <p:cNvSpPr txBox="1"/>
          <p:nvPr/>
        </p:nvSpPr>
        <p:spPr>
          <a:xfrm>
            <a:off x="66751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Samuel Okafor</a:t>
            </a:r>
            <a:endParaRPr lang="en-US" sz="1600" dirty="0"/>
          </a:p>
        </p:txBody>
      </p:sp>
      <p:sp>
        <p:nvSpPr>
          <p:cNvPr id="22" name="team_role_4"/>
          <p:cNvSpPr txBox="1"/>
          <p:nvPr/>
        </p:nvSpPr>
        <p:spPr>
          <a:xfrm>
            <a:off x="66751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VP Sales</a:t>
            </a:r>
            <a:endParaRPr lang="en-US" sz="1300" dirty="0"/>
          </a:p>
        </p:txBody>
      </p:sp>
      <p:sp>
        <p:nvSpPr>
          <p:cNvPr id="23" name="team_prev_4"/>
          <p:cNvSpPr txBox="1"/>
          <p:nvPr/>
        </p:nvSpPr>
        <p:spPr>
          <a:xfrm>
            <a:off x="66751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ex-Honeywell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ASK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Raising $25M to lead the mid-market</a:t>
            </a:r>
            <a:endParaRPr lang="en-US" sz="3000" dirty="0"/>
          </a:p>
        </p:txBody>
      </p:sp>
      <p:sp>
        <p:nvSpPr>
          <p:cNvPr id="4" name="ask_value"/>
          <p:cNvSpPr txBox="1"/>
          <p:nvPr/>
        </p:nvSpPr>
        <p:spPr>
          <a:xfrm>
            <a:off x="54864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$25M</a:t>
            </a:r>
            <a:endParaRPr lang="en-US" sz="7200" dirty="0"/>
          </a:p>
        </p:txBody>
      </p:sp>
      <p:sp>
        <p:nvSpPr>
          <p:cNvPr id="5" name="ask_round"/>
          <p:cNvSpPr txBox="1"/>
          <p:nvPr/>
        </p:nvSpPr>
        <p:spPr>
          <a:xfrm>
            <a:off x="54864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Series B</a:t>
            </a:r>
            <a:endParaRPr lang="en-US" sz="2000" dirty="0"/>
          </a:p>
        </p:txBody>
      </p:sp>
      <p:sp>
        <p:nvSpPr>
          <p:cNvPr id="6" name="ask_note"/>
          <p:cNvSpPr txBox="1"/>
          <p:nvPr/>
        </p:nvSpPr>
        <p:spPr>
          <a:xfrm>
            <a:off x="548640" y="3429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18 months of runway to reach $40M ARR</a:t>
            </a:r>
            <a:endParaRPr lang="en-US" sz="1500" dirty="0"/>
          </a:p>
        </p:txBody>
      </p:sp>
      <p:graphicFrame>
        <p:nvGraphicFramePr>
          <p:cNvPr id="7" name="funds_chart" descr=""/>
          <p:cNvGraphicFramePr/>
          <p:nvPr/>
        </p:nvGraphicFramePr>
        <p:xfrm>
          <a:off x="4114800" y="1691640"/>
          <a:ext cx="4572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THANK YOU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Let's cut the energy waste together</a:t>
            </a:r>
            <a:endParaRPr lang="en-US" sz="3000" dirty="0"/>
          </a:p>
        </p:txBody>
      </p:sp>
      <p:sp>
        <p:nvSpPr>
          <p:cNvPr id="4" name="contact_name"/>
          <p:cNvSpPr txBox="1"/>
          <p:nvPr/>
        </p:nvSpPr>
        <p:spPr>
          <a:xfrm>
            <a:off x="548640" y="2377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Priya Raman, CEO</a:t>
            </a:r>
            <a:endParaRPr lang="en-US" sz="2000" dirty="0"/>
          </a:p>
        </p:txBody>
      </p:sp>
      <p:sp>
        <p:nvSpPr>
          <p:cNvPr id="5" name="contact_details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priya@lumen.energy  ·  lumen.energy</a:t>
            </a:r>
            <a:endParaRPr lang="en-US" sz="1600" dirty="0"/>
          </a:p>
        </p:txBody>
      </p:sp>
      <p:pic>
        <p:nvPicPr>
          <p:cNvPr id="6" name="close_circ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54480"/>
            <a:ext cx="2834640" cy="2834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Dark">
  <a:themeElements>
    <a:clrScheme name="Pitch Dark">
      <a:dk1>
        <a:srgbClr val="0E0E12"/>
      </a:dk1>
      <a:lt1>
        <a:srgbClr val="FFFFFF"/>
      </a:lt1>
      <a:dk2>
        <a:srgbClr val="1C1C26"/>
      </a:dk2>
      <a:lt2>
        <a:srgbClr val="A1A1AA"/>
      </a:lt2>
      <a:accent1>
        <a:srgbClr val="FF5A36"/>
      </a:accent1>
      <a:accent2>
        <a:srgbClr val="B8B5FF"/>
      </a:accent2>
      <a:accent3>
        <a:srgbClr val="2A2A35"/>
      </a:accent3>
      <a:accent4>
        <a:srgbClr val="FFB199"/>
      </a:accent4>
      <a:accent5>
        <a:srgbClr val="6EE7B7"/>
      </a:accent5>
      <a:accent6>
        <a:srgbClr val="FDE68A"/>
      </a:accent6>
      <a:hlink>
        <a:srgbClr val="FF5A36"/>
      </a:hlink>
      <a:folHlink>
        <a:srgbClr val="B8B5FF"/>
      </a:folHlink>
    </a:clrScheme>
    <a:fontScheme name="Pitch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Lumen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Series B</dc:title>
  <dc:subject>PptxGenJS Presentation</dc:subject>
  <dc:creator>Lumen</dc:creator>
  <cp:lastModifiedBy>Lumen</cp:lastModifiedBy>
  <cp:revision>1</cp:revision>
  <dcterms:created xsi:type="dcterms:W3CDTF">2026-10-26T05:30:39Z</dcterms:created>
  <dcterms:modified xsi:type="dcterms:W3CDTF">2026-10-26T05:30:39Z</dcterms:modified>
</cp:coreProperties>
</file>