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5c00368-48d2-94c8-d425-3a5a1ac91a05}">
          <p14:sldIdLst>
            <p14:sldId id="256"/>
          </p14:sldIdLst>
        </p14:section>
        <p14:section name="Executive summary" id="{dcd38062-c4d1-d063-d0d3-6cfe3c411196}">
          <p14:sldIdLst>
            <p14:sldId id="257"/>
          </p14:sldIdLst>
        </p14:section>
        <p14:section name="Market assessment" id="{89ea2c1b-b5a8-6121-e8fc-12e918b49ee1}">
          <p14:sldIdLst>
            <p14:sldId id="258"/>
          </p14:sldIdLst>
        </p14:section>
        <p14:section name="Business case" id="{f4c6ce33-8bb6-3726-6189-324ac9b1b1a9}">
          <p14:sldIdLst>
            <p14:sldId id="259"/>
          </p14:sldIdLst>
        </p14:section>
        <p14:section name="Competition" id="{4f57b9dc-d76c-dba3-999c-48893ea69cad}">
          <p14:sldIdLst>
            <p14:sldId id="260"/>
          </p14:sldIdLst>
        </p14:section>
        <p14:section name="Prioritisation" id="{fa9fe85b-1487-3d9e-b4cc-c403cf3066f3}">
          <p14:sldIdLst>
            <p14:sldId id="261"/>
          </p14:sldIdLst>
        </p14:section>
        <p14:section name="Next steps" id="{8f3cfbc8-b0df-7f1c-b922-c39d6320f18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+mn-lt"/>
              </a:rPr>
              <a:t>Addressable market, $B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Indonesia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2026</c:v>
                  </c:pt>
                  <c:pt idx="2">
                    <c:v>2028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0.8</c:v>
                </c:pt>
                <c:pt idx="2">
                  <c:v>1.1</c:v>
                </c:pt>
                <c:pt idx="3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Vietnam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2026</c:v>
                  </c:pt>
                  <c:pt idx="2">
                    <c:v>2028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</c:v>
                </c:pt>
                <c:pt idx="1">
                  <c:v>0.55</c:v>
                </c:pt>
                <c:pt idx="2">
                  <c:v>0.75</c:v>
                </c:pt>
                <c:pt idx="3">
                  <c:v>1.1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Thailand</c:v>
                </c:pt>
              </c:strCache>
            </c:strRef>
          </c:tx>
          <c:spPr>
            <a:solidFill>
              <a:srgbClr val="5B7D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2026</c:v>
                  </c:pt>
                  <c:pt idx="2">
                    <c:v>2028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</c:v>
                </c:pt>
                <c:pt idx="1">
                  <c:v>0.55</c:v>
                </c:pt>
                <c:pt idx="2">
                  <c:v>0.65</c:v>
                </c:pt>
                <c:pt idx="3">
                  <c:v>0.8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A9B8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2026</c:v>
                  </c:pt>
                  <c:pt idx="2">
                    <c:v>2028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0.4</c:v>
                </c:pt>
                <c:pt idx="1">
                  <c:v>0.5</c:v>
                </c:pt>
                <c:pt idx="2">
                  <c:v>0.6</c:v>
                </c:pt>
                <c:pt idx="3">
                  <c:v>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9144000" cy="18973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STRATEGY GROUP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82296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65760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ON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6B7280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6B7280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822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Entering the Southeast Asian market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Market assessment and recommended entry strategy</a:t>
            </a:r>
            <a:endParaRPr lang="en-US" sz="16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3657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Prepared for the Executive Committee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Southeast Asia offers a $4.2B opportunity; a partnership-led entry into Vietnam and Indonesia captures it fastest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Source: team analysis</a:t>
            </a:r>
            <a:endParaRPr lang="en-US" sz="1000" dirty="0"/>
          </a:p>
        </p:txBody>
      </p:sp>
      <p:sp>
        <p:nvSpPr>
          <p:cNvPr id="5" name="scr_label_bg_1"/>
          <p:cNvSpPr/>
          <p:nvPr/>
        </p:nvSpPr>
        <p:spPr>
          <a:xfrm>
            <a:off x="457200" y="1417320"/>
            <a:ext cx="1828800" cy="914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scr_label_1"/>
          <p:cNvSpPr txBox="1"/>
          <p:nvPr/>
        </p:nvSpPr>
        <p:spPr>
          <a:xfrm>
            <a:off x="457200" y="1417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Situation</a:t>
            </a:r>
            <a:endParaRPr lang="en-US" sz="1500" dirty="0"/>
          </a:p>
        </p:txBody>
      </p:sp>
      <p:sp>
        <p:nvSpPr>
          <p:cNvPr id="7" name="scr_text_bg_1"/>
          <p:cNvSpPr/>
          <p:nvPr/>
        </p:nvSpPr>
        <p:spPr>
          <a:xfrm>
            <a:off x="2377440" y="1417320"/>
            <a:ext cx="63093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scr_text_1"/>
          <p:cNvSpPr txBox="1"/>
          <p:nvPr/>
        </p:nvSpPr>
        <p:spPr>
          <a:xfrm>
            <a:off x="2606040" y="1417320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Core European markets are maturing, with growth slowing to 3% a year and price competition intensifying.</a:t>
            </a:r>
            <a:endParaRPr lang="en-US" sz="1500" dirty="0"/>
          </a:p>
        </p:txBody>
      </p:sp>
      <p:sp>
        <p:nvSpPr>
          <p:cNvPr id="9" name="scr_label_bg_2"/>
          <p:cNvSpPr/>
          <p:nvPr/>
        </p:nvSpPr>
        <p:spPr>
          <a:xfrm>
            <a:off x="457200" y="2468880"/>
            <a:ext cx="1828800" cy="914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scr_label_2"/>
          <p:cNvSpPr txBox="1"/>
          <p:nvPr/>
        </p:nvSpPr>
        <p:spPr>
          <a:xfrm>
            <a:off x="45720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Complication</a:t>
            </a:r>
            <a:endParaRPr lang="en-US" sz="1500" dirty="0"/>
          </a:p>
        </p:txBody>
      </p:sp>
      <p:sp>
        <p:nvSpPr>
          <p:cNvPr id="11" name="scr_text_bg_2"/>
          <p:cNvSpPr/>
          <p:nvPr/>
        </p:nvSpPr>
        <p:spPr>
          <a:xfrm>
            <a:off x="2377440" y="2468880"/>
            <a:ext cx="63093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cr_text_2"/>
          <p:cNvSpPr txBox="1"/>
          <p:nvPr/>
        </p:nvSpPr>
        <p:spPr>
          <a:xfrm>
            <a:off x="2606040" y="2468880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Southeast Asian demand is growing 14% a year, but incumbents hold 60% share and distribution is fragmented.</a:t>
            </a:r>
            <a:endParaRPr lang="en-US" sz="1500" dirty="0"/>
          </a:p>
        </p:txBody>
      </p:sp>
      <p:sp>
        <p:nvSpPr>
          <p:cNvPr id="13" name="scr_label_bg_3"/>
          <p:cNvSpPr/>
          <p:nvPr/>
        </p:nvSpPr>
        <p:spPr>
          <a:xfrm>
            <a:off x="457200" y="3520440"/>
            <a:ext cx="1828800" cy="914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scr_label_3"/>
          <p:cNvSpPr txBox="1"/>
          <p:nvPr/>
        </p:nvSpPr>
        <p:spPr>
          <a:xfrm>
            <a:off x="457200" y="3520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Resolution</a:t>
            </a:r>
            <a:endParaRPr lang="en-US" sz="1500" dirty="0"/>
          </a:p>
        </p:txBody>
      </p:sp>
      <p:sp>
        <p:nvSpPr>
          <p:cNvPr id="15" name="scr_text_bg_3"/>
          <p:cNvSpPr/>
          <p:nvPr/>
        </p:nvSpPr>
        <p:spPr>
          <a:xfrm>
            <a:off x="2377440" y="3520440"/>
            <a:ext cx="63093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cr_text_3"/>
          <p:cNvSpPr txBox="1"/>
          <p:nvPr/>
        </p:nvSpPr>
        <p:spPr>
          <a:xfrm>
            <a:off x="2606040" y="3520440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Vietnam and Indonesia through a distribution partner in 2027, then build owned capability by 2029.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Market assessment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addressable market will more than double to $4.2B by 2030, led by Vietnam and Indonesia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Source: industry association data; team analysis</a:t>
            </a:r>
            <a:endParaRPr lang="en-US" sz="1000" dirty="0"/>
          </a:p>
        </p:txBody>
      </p:sp>
      <p:graphicFrame>
        <p:nvGraphicFramePr>
          <p:cNvPr id="5" name="market_chart" descr=""/>
          <p:cNvGraphicFramePr/>
          <p:nvPr/>
        </p:nvGraphicFramePr>
        <p:xfrm>
          <a:off x="457200" y="132588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gr_card"/>
          <p:cNvSpPr/>
          <p:nvPr/>
        </p:nvSpPr>
        <p:spPr>
          <a:xfrm>
            <a:off x="6492240" y="1325880"/>
            <a:ext cx="2194560" cy="3246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cagr_value"/>
          <p:cNvSpPr txBox="1"/>
          <p:nvPr/>
        </p:nvSpPr>
        <p:spPr>
          <a:xfrm>
            <a:off x="6720840" y="1554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14%</a:t>
            </a:r>
            <a:endParaRPr lang="en-US" sz="4400" dirty="0"/>
          </a:p>
        </p:txBody>
      </p:sp>
      <p:sp>
        <p:nvSpPr>
          <p:cNvPr id="8" name="cagr_label"/>
          <p:cNvSpPr txBox="1"/>
          <p:nvPr/>
        </p:nvSpPr>
        <p:spPr>
          <a:xfrm>
            <a:off x="6720840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Market CAGR, 2024–30</a:t>
            </a:r>
            <a:endParaRPr lang="en-US" sz="1400" dirty="0"/>
          </a:p>
        </p:txBody>
      </p:sp>
      <p:sp>
        <p:nvSpPr>
          <p:cNvPr id="9" name="cagr_note"/>
          <p:cNvSpPr txBox="1"/>
          <p:nvPr/>
        </p:nvSpPr>
        <p:spPr>
          <a:xfrm>
            <a:off x="6720840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Vietnam and Indonesia account for 62% of growth to 2030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Business case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Market entry adds $38M EBITDA by 2030; new-market volume is the largest driver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Note: axis starts at $100M. Source: finance model v3; team analysis</a:t>
            </a:r>
            <a:endParaRPr lang="en-US" sz="1000" dirty="0"/>
          </a:p>
        </p:txBody>
      </p:sp>
      <p:sp>
        <p:nvSpPr>
          <p:cNvPr id="5" name="wf_bar_1"/>
          <p:cNvSpPr/>
          <p:nvPr/>
        </p:nvSpPr>
        <p:spPr>
          <a:xfrm>
            <a:off x="685800" y="3389811"/>
            <a:ext cx="777240" cy="679269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wf_value_1"/>
          <p:cNvSpPr txBox="1"/>
          <p:nvPr/>
        </p:nvSpPr>
        <p:spPr>
          <a:xfrm>
            <a:off x="502920" y="3069771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$120M</a:t>
            </a:r>
            <a:endParaRPr lang="en-US" sz="1300" dirty="0"/>
          </a:p>
        </p:txBody>
      </p:sp>
      <p:sp>
        <p:nvSpPr>
          <p:cNvPr id="7" name="wf_label_1"/>
          <p:cNvSpPr txBox="1"/>
          <p:nvPr/>
        </p:nvSpPr>
        <p:spPr>
          <a:xfrm>
            <a:off x="5029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EBITDA 2026</a:t>
            </a:r>
            <a:endParaRPr lang="en-US" sz="1100" dirty="0"/>
          </a:p>
        </p:txBody>
      </p:sp>
      <p:sp>
        <p:nvSpPr>
          <p:cNvPr id="8" name="wf_connector_1"/>
          <p:cNvSpPr/>
          <p:nvPr/>
        </p:nvSpPr>
        <p:spPr>
          <a:xfrm>
            <a:off x="1463040" y="3389811"/>
            <a:ext cx="36576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9" name="wf_bar_2"/>
          <p:cNvSpPr/>
          <p:nvPr/>
        </p:nvSpPr>
        <p:spPr>
          <a:xfrm>
            <a:off x="1828800" y="2778470"/>
            <a:ext cx="777240" cy="61134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wf_value_2"/>
          <p:cNvSpPr txBox="1"/>
          <p:nvPr/>
        </p:nvSpPr>
        <p:spPr>
          <a:xfrm>
            <a:off x="1645920" y="245843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+18</a:t>
            </a:r>
            <a:endParaRPr lang="en-US" sz="1300" dirty="0"/>
          </a:p>
        </p:txBody>
      </p:sp>
      <p:sp>
        <p:nvSpPr>
          <p:cNvPr id="11" name="wf_label_2"/>
          <p:cNvSpPr txBox="1"/>
          <p:nvPr/>
        </p:nvSpPr>
        <p:spPr>
          <a:xfrm>
            <a:off x="16459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Vietnam volume</a:t>
            </a:r>
            <a:endParaRPr lang="en-US" sz="1100" dirty="0"/>
          </a:p>
        </p:txBody>
      </p:sp>
      <p:sp>
        <p:nvSpPr>
          <p:cNvPr id="12" name="wf_connector_2"/>
          <p:cNvSpPr/>
          <p:nvPr/>
        </p:nvSpPr>
        <p:spPr>
          <a:xfrm>
            <a:off x="2606040" y="2778470"/>
            <a:ext cx="36576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13" name="wf_bar_3"/>
          <p:cNvSpPr/>
          <p:nvPr/>
        </p:nvSpPr>
        <p:spPr>
          <a:xfrm>
            <a:off x="2971800" y="1963347"/>
            <a:ext cx="777240" cy="81512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wf_value_3"/>
          <p:cNvSpPr txBox="1"/>
          <p:nvPr/>
        </p:nvSpPr>
        <p:spPr>
          <a:xfrm>
            <a:off x="2788920" y="1643307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+24</a:t>
            </a:r>
            <a:endParaRPr lang="en-US" sz="1300" dirty="0"/>
          </a:p>
        </p:txBody>
      </p:sp>
      <p:sp>
        <p:nvSpPr>
          <p:cNvPr id="15" name="wf_label_3"/>
          <p:cNvSpPr txBox="1"/>
          <p:nvPr/>
        </p:nvSpPr>
        <p:spPr>
          <a:xfrm>
            <a:off x="27889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Indonesia volume</a:t>
            </a:r>
            <a:endParaRPr lang="en-US" sz="1100" dirty="0"/>
          </a:p>
        </p:txBody>
      </p:sp>
      <p:sp>
        <p:nvSpPr>
          <p:cNvPr id="16" name="wf_connector_3"/>
          <p:cNvSpPr/>
          <p:nvPr/>
        </p:nvSpPr>
        <p:spPr>
          <a:xfrm>
            <a:off x="3749040" y="1963347"/>
            <a:ext cx="36576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17" name="wf_bar_4"/>
          <p:cNvSpPr/>
          <p:nvPr/>
        </p:nvSpPr>
        <p:spPr>
          <a:xfrm>
            <a:off x="4114800" y="1759567"/>
            <a:ext cx="777240" cy="203781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wf_value_4"/>
          <p:cNvSpPr txBox="1"/>
          <p:nvPr/>
        </p:nvSpPr>
        <p:spPr>
          <a:xfrm>
            <a:off x="3931920" y="1439527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+6</a:t>
            </a:r>
            <a:endParaRPr lang="en-US" sz="1300" dirty="0"/>
          </a:p>
        </p:txBody>
      </p:sp>
      <p:sp>
        <p:nvSpPr>
          <p:cNvPr id="19" name="wf_label_4"/>
          <p:cNvSpPr txBox="1"/>
          <p:nvPr/>
        </p:nvSpPr>
        <p:spPr>
          <a:xfrm>
            <a:off x="39319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Pricing</a:t>
            </a:r>
            <a:endParaRPr lang="en-US" sz="1100" dirty="0"/>
          </a:p>
        </p:txBody>
      </p:sp>
      <p:sp>
        <p:nvSpPr>
          <p:cNvPr id="20" name="wf_connector_4"/>
          <p:cNvSpPr/>
          <p:nvPr/>
        </p:nvSpPr>
        <p:spPr>
          <a:xfrm>
            <a:off x="4892040" y="1759567"/>
            <a:ext cx="36576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1" name="wf_bar_5"/>
          <p:cNvSpPr/>
          <p:nvPr/>
        </p:nvSpPr>
        <p:spPr>
          <a:xfrm>
            <a:off x="5257800" y="1759567"/>
            <a:ext cx="777240" cy="23774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2" name="wf_value_5"/>
          <p:cNvSpPr txBox="1"/>
          <p:nvPr/>
        </p:nvSpPr>
        <p:spPr>
          <a:xfrm>
            <a:off x="5074920" y="1439527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-7</a:t>
            </a:r>
            <a:endParaRPr lang="en-US" sz="1300" dirty="0"/>
          </a:p>
        </p:txBody>
      </p:sp>
      <p:sp>
        <p:nvSpPr>
          <p:cNvPr id="23" name="wf_label_5"/>
          <p:cNvSpPr txBox="1"/>
          <p:nvPr/>
        </p:nvSpPr>
        <p:spPr>
          <a:xfrm>
            <a:off x="50749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Partner fees</a:t>
            </a:r>
            <a:endParaRPr lang="en-US" sz="1100" dirty="0"/>
          </a:p>
        </p:txBody>
      </p:sp>
      <p:sp>
        <p:nvSpPr>
          <p:cNvPr id="24" name="wf_connector_5"/>
          <p:cNvSpPr/>
          <p:nvPr/>
        </p:nvSpPr>
        <p:spPr>
          <a:xfrm>
            <a:off x="6035040" y="1997311"/>
            <a:ext cx="36576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5" name="wf_bar_6"/>
          <p:cNvSpPr/>
          <p:nvPr/>
        </p:nvSpPr>
        <p:spPr>
          <a:xfrm>
            <a:off x="6400800" y="1997311"/>
            <a:ext cx="777240" cy="10189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6" name="wf_value_6"/>
          <p:cNvSpPr txBox="1"/>
          <p:nvPr/>
        </p:nvSpPr>
        <p:spPr>
          <a:xfrm>
            <a:off x="6217920" y="1677271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-3</a:t>
            </a:r>
            <a:endParaRPr lang="en-US" sz="1300" dirty="0"/>
          </a:p>
        </p:txBody>
      </p:sp>
      <p:sp>
        <p:nvSpPr>
          <p:cNvPr id="27" name="wf_label_6"/>
          <p:cNvSpPr txBox="1"/>
          <p:nvPr/>
        </p:nvSpPr>
        <p:spPr>
          <a:xfrm>
            <a:off x="62179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Setup cost</a:t>
            </a:r>
            <a:endParaRPr lang="en-US" sz="1100" dirty="0"/>
          </a:p>
        </p:txBody>
      </p:sp>
      <p:sp>
        <p:nvSpPr>
          <p:cNvPr id="28" name="wf_connector_6"/>
          <p:cNvSpPr/>
          <p:nvPr/>
        </p:nvSpPr>
        <p:spPr>
          <a:xfrm>
            <a:off x="7178040" y="2099201"/>
            <a:ext cx="36576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9" name="wf_bar_7"/>
          <p:cNvSpPr/>
          <p:nvPr/>
        </p:nvSpPr>
        <p:spPr>
          <a:xfrm>
            <a:off x="7543800" y="2099201"/>
            <a:ext cx="777240" cy="1969879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wf_value_7"/>
          <p:cNvSpPr txBox="1"/>
          <p:nvPr/>
        </p:nvSpPr>
        <p:spPr>
          <a:xfrm>
            <a:off x="7360920" y="1779161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$158M</a:t>
            </a:r>
            <a:endParaRPr lang="en-US" sz="1300" dirty="0"/>
          </a:p>
        </p:txBody>
      </p:sp>
      <p:sp>
        <p:nvSpPr>
          <p:cNvPr id="31" name="wf_label_7"/>
          <p:cNvSpPr txBox="1"/>
          <p:nvPr/>
        </p:nvSpPr>
        <p:spPr>
          <a:xfrm>
            <a:off x="73609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EBITDA 2030</a:t>
            </a:r>
            <a:endParaRPr lang="en-US" sz="1100" dirty="0"/>
          </a:p>
        </p:txBody>
      </p:sp>
      <p:sp>
        <p:nvSpPr>
          <p:cNvPr id="32" name="wf_axis"/>
          <p:cNvSpPr/>
          <p:nvPr/>
        </p:nvSpPr>
        <p:spPr>
          <a:xfrm>
            <a:off x="457200" y="4069080"/>
            <a:ext cx="8229600" cy="0"/>
          </a:xfrm>
          <a:prstGeom prst="line">
            <a:avLst/>
          </a:prstGeom>
          <a:noFill/>
          <a:ln w="12700">
            <a:solidFill>
              <a:srgbClr val="8C9AA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Competitive landscape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Local incumbents lead on distribution, but none match our product breadth or service model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Source: customer interviews (n=42); expert calls; team analysis</a:t>
            </a:r>
            <a:endParaRPr lang="en-US" sz="1000" dirty="0"/>
          </a:p>
        </p:txBody>
      </p:sp>
      <p:sp>
        <p:nvSpPr>
          <p:cNvPr id="5" name="hb_header_1"/>
          <p:cNvSpPr txBox="1"/>
          <p:nvPr/>
        </p:nvSpPr>
        <p:spPr>
          <a:xfrm>
            <a:off x="2834640" y="132588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Price</a:t>
            </a:r>
            <a:endParaRPr lang="en-US" sz="1300" dirty="0"/>
          </a:p>
        </p:txBody>
      </p:sp>
      <p:sp>
        <p:nvSpPr>
          <p:cNvPr id="6" name="hb_header_2"/>
          <p:cNvSpPr txBox="1"/>
          <p:nvPr/>
        </p:nvSpPr>
        <p:spPr>
          <a:xfrm>
            <a:off x="4005072" y="132588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Product breadth</a:t>
            </a:r>
            <a:endParaRPr lang="en-US" sz="1300" dirty="0"/>
          </a:p>
        </p:txBody>
      </p:sp>
      <p:sp>
        <p:nvSpPr>
          <p:cNvPr id="7" name="hb_header_3"/>
          <p:cNvSpPr txBox="1"/>
          <p:nvPr/>
        </p:nvSpPr>
        <p:spPr>
          <a:xfrm>
            <a:off x="5175504" y="132588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Distribution</a:t>
            </a:r>
            <a:endParaRPr lang="en-US" sz="1300" dirty="0"/>
          </a:p>
        </p:txBody>
      </p:sp>
      <p:sp>
        <p:nvSpPr>
          <p:cNvPr id="8" name="hb_header_4"/>
          <p:cNvSpPr txBox="1"/>
          <p:nvPr/>
        </p:nvSpPr>
        <p:spPr>
          <a:xfrm>
            <a:off x="6345936" y="132588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Service</a:t>
            </a:r>
            <a:endParaRPr lang="en-US" sz="1300" dirty="0"/>
          </a:p>
        </p:txBody>
      </p:sp>
      <p:sp>
        <p:nvSpPr>
          <p:cNvPr id="9" name="hb_header_5"/>
          <p:cNvSpPr txBox="1"/>
          <p:nvPr/>
        </p:nvSpPr>
        <p:spPr>
          <a:xfrm>
            <a:off x="7516368" y="132588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Brand</a:t>
            </a:r>
            <a:endParaRPr lang="en-US" sz="1300" dirty="0"/>
          </a:p>
        </p:txBody>
      </p:sp>
      <p:sp>
        <p:nvSpPr>
          <p:cNvPr id="10" name="hb_highlight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hb_rule_1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2" name="hb_name_1"/>
          <p:cNvSpPr txBox="1"/>
          <p:nvPr/>
        </p:nvSpPr>
        <p:spPr>
          <a:xfrm>
            <a:off x="59436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entry model</a:t>
            </a:r>
            <a:endParaRPr lang="en-US" sz="1400" dirty="0"/>
          </a:p>
        </p:txBody>
      </p:sp>
      <p:sp>
        <p:nvSpPr>
          <p:cNvPr id="13" name="hb_ring_1_1"/>
          <p:cNvSpPr/>
          <p:nvPr/>
        </p:nvSpPr>
        <p:spPr>
          <a:xfrm>
            <a:off x="3273552" y="19110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hb_fill_1_1"/>
          <p:cNvSpPr/>
          <p:nvPr/>
        </p:nvSpPr>
        <p:spPr>
          <a:xfrm>
            <a:off x="3273552" y="1911096"/>
            <a:ext cx="292608" cy="292608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tx2"/>
          </a:solidFill>
          <a:ln/>
        </p:spPr>
      </p:sp>
      <p:sp>
        <p:nvSpPr>
          <p:cNvPr id="15" name="hb_ring_1_2"/>
          <p:cNvSpPr/>
          <p:nvPr/>
        </p:nvSpPr>
        <p:spPr>
          <a:xfrm>
            <a:off x="4443984" y="19110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hb_fill_1_2"/>
          <p:cNvSpPr/>
          <p:nvPr/>
        </p:nvSpPr>
        <p:spPr>
          <a:xfrm>
            <a:off x="4443984" y="1911096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hb_ring_1_3"/>
          <p:cNvSpPr/>
          <p:nvPr/>
        </p:nvSpPr>
        <p:spPr>
          <a:xfrm>
            <a:off x="5614416" y="19110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hb_fill_1_3"/>
          <p:cNvSpPr/>
          <p:nvPr/>
        </p:nvSpPr>
        <p:spPr>
          <a:xfrm>
            <a:off x="5614416" y="1911096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tx2"/>
          </a:solidFill>
          <a:ln/>
        </p:spPr>
      </p:sp>
      <p:sp>
        <p:nvSpPr>
          <p:cNvPr id="19" name="hb_ring_1_4"/>
          <p:cNvSpPr/>
          <p:nvPr/>
        </p:nvSpPr>
        <p:spPr>
          <a:xfrm>
            <a:off x="6784848" y="19110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hb_fill_1_4"/>
          <p:cNvSpPr/>
          <p:nvPr/>
        </p:nvSpPr>
        <p:spPr>
          <a:xfrm>
            <a:off x="6784848" y="1911096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hb_ring_1_5"/>
          <p:cNvSpPr/>
          <p:nvPr/>
        </p:nvSpPr>
        <p:spPr>
          <a:xfrm>
            <a:off x="7955280" y="19110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hb_fill_1_5"/>
          <p:cNvSpPr/>
          <p:nvPr/>
        </p:nvSpPr>
        <p:spPr>
          <a:xfrm>
            <a:off x="7955280" y="1911096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tx2"/>
          </a:solidFill>
          <a:ln/>
        </p:spPr>
      </p:sp>
      <p:sp>
        <p:nvSpPr>
          <p:cNvPr id="23" name="hb_rule_2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4" name="hb_name_2"/>
          <p:cNvSpPr txBox="1"/>
          <p:nvPr/>
        </p:nvSpPr>
        <p:spPr>
          <a:xfrm>
            <a:off x="59436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Incumbent A</a:t>
            </a:r>
            <a:endParaRPr lang="en-US" sz="1400" dirty="0"/>
          </a:p>
        </p:txBody>
      </p:sp>
      <p:sp>
        <p:nvSpPr>
          <p:cNvPr id="25" name="hb_ring_2_1"/>
          <p:cNvSpPr/>
          <p:nvPr/>
        </p:nvSpPr>
        <p:spPr>
          <a:xfrm>
            <a:off x="3273552" y="23682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hb_fill_2_1"/>
          <p:cNvSpPr/>
          <p:nvPr/>
        </p:nvSpPr>
        <p:spPr>
          <a:xfrm>
            <a:off x="3273552" y="2368296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tx2"/>
          </a:solidFill>
          <a:ln/>
        </p:spPr>
      </p:sp>
      <p:sp>
        <p:nvSpPr>
          <p:cNvPr id="27" name="hb_ring_2_2"/>
          <p:cNvSpPr/>
          <p:nvPr/>
        </p:nvSpPr>
        <p:spPr>
          <a:xfrm>
            <a:off x="4443984" y="23682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hb_fill_2_2"/>
          <p:cNvSpPr/>
          <p:nvPr/>
        </p:nvSpPr>
        <p:spPr>
          <a:xfrm>
            <a:off x="4443984" y="2368296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tx2"/>
          </a:solidFill>
          <a:ln/>
        </p:spPr>
      </p:sp>
      <p:sp>
        <p:nvSpPr>
          <p:cNvPr id="29" name="hb_ring_2_3"/>
          <p:cNvSpPr/>
          <p:nvPr/>
        </p:nvSpPr>
        <p:spPr>
          <a:xfrm>
            <a:off x="5614416" y="23682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hb_fill_2_3"/>
          <p:cNvSpPr/>
          <p:nvPr/>
        </p:nvSpPr>
        <p:spPr>
          <a:xfrm>
            <a:off x="5614416" y="2368296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hb_ring_2_4"/>
          <p:cNvSpPr/>
          <p:nvPr/>
        </p:nvSpPr>
        <p:spPr>
          <a:xfrm>
            <a:off x="6784848" y="23682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hb_fill_2_4"/>
          <p:cNvSpPr/>
          <p:nvPr/>
        </p:nvSpPr>
        <p:spPr>
          <a:xfrm>
            <a:off x="6784848" y="2368296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tx2"/>
          </a:solidFill>
          <a:ln/>
        </p:spPr>
      </p:sp>
      <p:sp>
        <p:nvSpPr>
          <p:cNvPr id="33" name="hb_ring_2_5"/>
          <p:cNvSpPr/>
          <p:nvPr/>
        </p:nvSpPr>
        <p:spPr>
          <a:xfrm>
            <a:off x="7955280" y="23682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hb_fill_2_5"/>
          <p:cNvSpPr/>
          <p:nvPr/>
        </p:nvSpPr>
        <p:spPr>
          <a:xfrm>
            <a:off x="7955280" y="2368296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hb_rule_3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6" name="hb_name_3"/>
          <p:cNvSpPr txBox="1"/>
          <p:nvPr/>
        </p:nvSpPr>
        <p:spPr>
          <a:xfrm>
            <a:off x="59436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Incumbent B</a:t>
            </a:r>
            <a:endParaRPr lang="en-US" sz="1400" dirty="0"/>
          </a:p>
        </p:txBody>
      </p:sp>
      <p:sp>
        <p:nvSpPr>
          <p:cNvPr id="37" name="hb_ring_3_1"/>
          <p:cNvSpPr/>
          <p:nvPr/>
        </p:nvSpPr>
        <p:spPr>
          <a:xfrm>
            <a:off x="3273552" y="28254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hb_fill_3_1"/>
          <p:cNvSpPr/>
          <p:nvPr/>
        </p:nvSpPr>
        <p:spPr>
          <a:xfrm>
            <a:off x="3273552" y="2825496"/>
            <a:ext cx="292608" cy="292608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tx2"/>
          </a:solidFill>
          <a:ln/>
        </p:spPr>
      </p:sp>
      <p:sp>
        <p:nvSpPr>
          <p:cNvPr id="39" name="hb_ring_3_2"/>
          <p:cNvSpPr/>
          <p:nvPr/>
        </p:nvSpPr>
        <p:spPr>
          <a:xfrm>
            <a:off x="4443984" y="28254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0" name="hb_fill_3_2"/>
          <p:cNvSpPr/>
          <p:nvPr/>
        </p:nvSpPr>
        <p:spPr>
          <a:xfrm>
            <a:off x="4443984" y="2825496"/>
            <a:ext cx="292608" cy="292608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tx2"/>
          </a:solidFill>
          <a:ln/>
        </p:spPr>
      </p:sp>
      <p:sp>
        <p:nvSpPr>
          <p:cNvPr id="41" name="hb_ring_3_3"/>
          <p:cNvSpPr/>
          <p:nvPr/>
        </p:nvSpPr>
        <p:spPr>
          <a:xfrm>
            <a:off x="5614416" y="28254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2" name="hb_fill_3_3"/>
          <p:cNvSpPr/>
          <p:nvPr/>
        </p:nvSpPr>
        <p:spPr>
          <a:xfrm>
            <a:off x="5614416" y="2825496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3" name="hb_ring_3_4"/>
          <p:cNvSpPr/>
          <p:nvPr/>
        </p:nvSpPr>
        <p:spPr>
          <a:xfrm>
            <a:off x="6784848" y="28254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hb_fill_3_4"/>
          <p:cNvSpPr/>
          <p:nvPr/>
        </p:nvSpPr>
        <p:spPr>
          <a:xfrm>
            <a:off x="6784848" y="2825496"/>
            <a:ext cx="292608" cy="292608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tx2"/>
          </a:solidFill>
          <a:ln/>
        </p:spPr>
      </p:sp>
      <p:sp>
        <p:nvSpPr>
          <p:cNvPr id="45" name="hb_ring_3_5"/>
          <p:cNvSpPr/>
          <p:nvPr/>
        </p:nvSpPr>
        <p:spPr>
          <a:xfrm>
            <a:off x="7955280" y="28254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6" name="hb_fill_3_5"/>
          <p:cNvSpPr/>
          <p:nvPr/>
        </p:nvSpPr>
        <p:spPr>
          <a:xfrm>
            <a:off x="7955280" y="2825496"/>
            <a:ext cx="292608" cy="292608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tx2"/>
          </a:solidFill>
          <a:ln/>
        </p:spPr>
      </p:sp>
      <p:sp>
        <p:nvSpPr>
          <p:cNvPr id="47" name="hb_rule_4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8" name="hb_name_4"/>
          <p:cNvSpPr txBox="1"/>
          <p:nvPr/>
        </p:nvSpPr>
        <p:spPr>
          <a:xfrm>
            <a:off x="59436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Regional player C</a:t>
            </a:r>
            <a:endParaRPr lang="en-US" sz="1400" dirty="0"/>
          </a:p>
        </p:txBody>
      </p:sp>
      <p:sp>
        <p:nvSpPr>
          <p:cNvPr id="49" name="hb_ring_4_1"/>
          <p:cNvSpPr/>
          <p:nvPr/>
        </p:nvSpPr>
        <p:spPr>
          <a:xfrm>
            <a:off x="3273552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0" name="hb_fill_4_1"/>
          <p:cNvSpPr/>
          <p:nvPr/>
        </p:nvSpPr>
        <p:spPr>
          <a:xfrm>
            <a:off x="3273552" y="3282696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1" name="hb_ring_4_2"/>
          <p:cNvSpPr/>
          <p:nvPr/>
        </p:nvSpPr>
        <p:spPr>
          <a:xfrm>
            <a:off x="4443984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2" name="hb_fill_4_2"/>
          <p:cNvSpPr/>
          <p:nvPr/>
        </p:nvSpPr>
        <p:spPr>
          <a:xfrm>
            <a:off x="4443984" y="3282696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tx2"/>
          </a:solidFill>
          <a:ln/>
        </p:spPr>
      </p:sp>
      <p:sp>
        <p:nvSpPr>
          <p:cNvPr id="53" name="hb_ring_4_3"/>
          <p:cNvSpPr/>
          <p:nvPr/>
        </p:nvSpPr>
        <p:spPr>
          <a:xfrm>
            <a:off x="5614416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4" name="hb_fill_4_3"/>
          <p:cNvSpPr/>
          <p:nvPr/>
        </p:nvSpPr>
        <p:spPr>
          <a:xfrm>
            <a:off x="5614416" y="3282696"/>
            <a:ext cx="292608" cy="292608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tx2"/>
          </a:solidFill>
          <a:ln/>
        </p:spPr>
      </p:sp>
      <p:sp>
        <p:nvSpPr>
          <p:cNvPr id="55" name="hb_ring_4_4"/>
          <p:cNvSpPr/>
          <p:nvPr/>
        </p:nvSpPr>
        <p:spPr>
          <a:xfrm>
            <a:off x="6784848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hb_fill_4_4"/>
          <p:cNvSpPr/>
          <p:nvPr/>
        </p:nvSpPr>
        <p:spPr>
          <a:xfrm>
            <a:off x="6784848" y="3282696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tx2"/>
          </a:solidFill>
          <a:ln/>
        </p:spPr>
      </p:sp>
      <p:sp>
        <p:nvSpPr>
          <p:cNvPr id="57" name="hb_ring_4_5"/>
          <p:cNvSpPr/>
          <p:nvPr/>
        </p:nvSpPr>
        <p:spPr>
          <a:xfrm>
            <a:off x="7955280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8" name="hb_fill_4_5"/>
          <p:cNvSpPr/>
          <p:nvPr/>
        </p:nvSpPr>
        <p:spPr>
          <a:xfrm>
            <a:off x="7955280" y="3282696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tx2"/>
          </a:solidFill>
          <a:ln/>
        </p:spPr>
      </p:sp>
      <p:sp>
        <p:nvSpPr>
          <p:cNvPr id="59" name="hb_rule_5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60" name="hb_name_5"/>
          <p:cNvSpPr txBox="1"/>
          <p:nvPr/>
        </p:nvSpPr>
        <p:spPr>
          <a:xfrm>
            <a:off x="59436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Global player D</a:t>
            </a:r>
            <a:endParaRPr lang="en-US" sz="1400" dirty="0"/>
          </a:p>
        </p:txBody>
      </p:sp>
      <p:sp>
        <p:nvSpPr>
          <p:cNvPr id="61" name="hb_ring_5_1"/>
          <p:cNvSpPr/>
          <p:nvPr/>
        </p:nvSpPr>
        <p:spPr>
          <a:xfrm>
            <a:off x="3273552" y="37398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2" name="hb_fill_5_1"/>
          <p:cNvSpPr/>
          <p:nvPr/>
        </p:nvSpPr>
        <p:spPr>
          <a:xfrm>
            <a:off x="3273552" y="3739896"/>
            <a:ext cx="292608" cy="292608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tx2"/>
          </a:solidFill>
          <a:ln/>
        </p:spPr>
      </p:sp>
      <p:sp>
        <p:nvSpPr>
          <p:cNvPr id="63" name="hb_ring_5_2"/>
          <p:cNvSpPr/>
          <p:nvPr/>
        </p:nvSpPr>
        <p:spPr>
          <a:xfrm>
            <a:off x="4443984" y="37398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4" name="hb_fill_5_2"/>
          <p:cNvSpPr/>
          <p:nvPr/>
        </p:nvSpPr>
        <p:spPr>
          <a:xfrm>
            <a:off x="4443984" y="3739896"/>
            <a:ext cx="292608" cy="292608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tx2"/>
          </a:solidFill>
          <a:ln/>
        </p:spPr>
      </p:sp>
      <p:sp>
        <p:nvSpPr>
          <p:cNvPr id="65" name="hb_ring_5_3"/>
          <p:cNvSpPr/>
          <p:nvPr/>
        </p:nvSpPr>
        <p:spPr>
          <a:xfrm>
            <a:off x="5614416" y="37398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6" name="hb_fill_5_3"/>
          <p:cNvSpPr/>
          <p:nvPr/>
        </p:nvSpPr>
        <p:spPr>
          <a:xfrm>
            <a:off x="5614416" y="3739896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tx2"/>
          </a:solidFill>
          <a:ln/>
        </p:spPr>
      </p:sp>
      <p:sp>
        <p:nvSpPr>
          <p:cNvPr id="67" name="hb_ring_5_4"/>
          <p:cNvSpPr/>
          <p:nvPr/>
        </p:nvSpPr>
        <p:spPr>
          <a:xfrm>
            <a:off x="6784848" y="37398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8" name="hb_fill_5_4"/>
          <p:cNvSpPr/>
          <p:nvPr/>
        </p:nvSpPr>
        <p:spPr>
          <a:xfrm>
            <a:off x="6784848" y="3739896"/>
            <a:ext cx="292608" cy="292608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tx2"/>
          </a:solidFill>
          <a:ln/>
        </p:spPr>
      </p:sp>
      <p:sp>
        <p:nvSpPr>
          <p:cNvPr id="69" name="hb_ring_5_5"/>
          <p:cNvSpPr/>
          <p:nvPr/>
        </p:nvSpPr>
        <p:spPr>
          <a:xfrm>
            <a:off x="7955280" y="37398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0" name="hb_fill_5_5"/>
          <p:cNvSpPr/>
          <p:nvPr/>
        </p:nvSpPr>
        <p:spPr>
          <a:xfrm>
            <a:off x="7955280" y="3739896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1" name="hb_legend"/>
          <p:cNvSpPr txBox="1"/>
          <p:nvPr/>
        </p:nvSpPr>
        <p:spPr>
          <a:xfrm>
            <a:off x="59436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Ball fill shows relative strength: empty = weak, full = market-leading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Market prioritisation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Vietnam and Indonesia combine high attractiveness with feasible entry, so we prioritise them first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Bubble size = 2030 market size. Source: team analysis</a:t>
            </a:r>
            <a:endParaRPr lang="en-US" sz="1000" dirty="0"/>
          </a:p>
        </p:txBody>
      </p:sp>
      <p:sp>
        <p:nvSpPr>
          <p:cNvPr id="5" name="quad_1"/>
          <p:cNvSpPr/>
          <p:nvPr/>
        </p:nvSpPr>
        <p:spPr>
          <a:xfrm>
            <a:off x="914400" y="1325880"/>
            <a:ext cx="2340864" cy="14493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quad_2"/>
          <p:cNvSpPr/>
          <p:nvPr/>
        </p:nvSpPr>
        <p:spPr>
          <a:xfrm>
            <a:off x="3291840" y="1325880"/>
            <a:ext cx="2340864" cy="1449324"/>
          </a:xfrm>
          <a:prstGeom prst="rect">
            <a:avLst/>
          </a:prstGeom>
          <a:solidFill>
            <a:srgbClr val="D9F0EC"/>
          </a:solidFill>
          <a:ln/>
        </p:spPr>
      </p:sp>
      <p:sp>
        <p:nvSpPr>
          <p:cNvPr id="7" name="quad_3"/>
          <p:cNvSpPr/>
          <p:nvPr/>
        </p:nvSpPr>
        <p:spPr>
          <a:xfrm>
            <a:off x="914400" y="2811780"/>
            <a:ext cx="2340864" cy="14493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quad_4"/>
          <p:cNvSpPr/>
          <p:nvPr/>
        </p:nvSpPr>
        <p:spPr>
          <a:xfrm>
            <a:off x="3291840" y="2811780"/>
            <a:ext cx="2340864" cy="14493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quad_label_tr"/>
          <p:cNvSpPr txBox="1"/>
          <p:nvPr/>
        </p:nvSpPr>
        <p:spPr>
          <a:xfrm>
            <a:off x="37033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Prioritise</a:t>
            </a:r>
            <a:endParaRPr lang="en-US" sz="1100" dirty="0"/>
          </a:p>
        </p:txBody>
      </p:sp>
      <p:sp>
        <p:nvSpPr>
          <p:cNvPr id="10" name="axis_x"/>
          <p:cNvSpPr txBox="1"/>
          <p:nvPr/>
        </p:nvSpPr>
        <p:spPr>
          <a:xfrm>
            <a:off x="91440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Ease of entry  →</a:t>
            </a:r>
            <a:endParaRPr lang="en-US" sz="1200" dirty="0"/>
          </a:p>
        </p:txBody>
      </p:sp>
      <p:sp>
        <p:nvSpPr>
          <p:cNvPr id="11" name="axis_y"/>
          <p:cNvSpPr txBox="1"/>
          <p:nvPr/>
        </p:nvSpPr>
        <p:spPr>
          <a:xfrm rot="16200000">
            <a:off x="-914400" y="26746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Market attractiveness  →</a:t>
            </a:r>
            <a:endParaRPr lang="en-US" sz="1200" dirty="0"/>
          </a:p>
        </p:txBody>
      </p:sp>
      <p:sp>
        <p:nvSpPr>
          <p:cNvPr id="12" name="bubble_1"/>
          <p:cNvSpPr/>
          <p:nvPr/>
        </p:nvSpPr>
        <p:spPr>
          <a:xfrm>
            <a:off x="4681728" y="1705356"/>
            <a:ext cx="548640" cy="548640"/>
          </a:xfrm>
          <a:prstGeom prst="ellipse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3" name="bubble_label_1"/>
          <p:cNvSpPr txBox="1"/>
          <p:nvPr/>
        </p:nvSpPr>
        <p:spPr>
          <a:xfrm>
            <a:off x="4224528" y="22722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Vietnam</a:t>
            </a:r>
            <a:endParaRPr lang="en-US" sz="1100" dirty="0"/>
          </a:p>
        </p:txBody>
      </p:sp>
      <p:sp>
        <p:nvSpPr>
          <p:cNvPr id="14" name="bubble_2"/>
          <p:cNvSpPr/>
          <p:nvPr/>
        </p:nvSpPr>
        <p:spPr>
          <a:xfrm>
            <a:off x="3447288" y="1421892"/>
            <a:ext cx="640080" cy="640080"/>
          </a:xfrm>
          <a:prstGeom prst="ellipse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5" name="bubble_label_2"/>
          <p:cNvSpPr txBox="1"/>
          <p:nvPr/>
        </p:nvSpPr>
        <p:spPr>
          <a:xfrm>
            <a:off x="2990088" y="20802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Indonesia</a:t>
            </a:r>
            <a:endParaRPr lang="en-US" sz="1100" dirty="0"/>
          </a:p>
        </p:txBody>
      </p:sp>
      <p:sp>
        <p:nvSpPr>
          <p:cNvPr id="16" name="bubble_3"/>
          <p:cNvSpPr/>
          <p:nvPr/>
        </p:nvSpPr>
        <p:spPr>
          <a:xfrm>
            <a:off x="4593946" y="2740914"/>
            <a:ext cx="438912" cy="438912"/>
          </a:xfrm>
          <a:prstGeom prst="ellipse">
            <a:avLst/>
          </a:prstGeom>
          <a:solidFill>
            <a:schemeClr val="accent5">
              <a:alpha val="90000"/>
            </a:schemeClr>
          </a:solidFill>
          <a:ln/>
        </p:spPr>
      </p:sp>
      <p:sp>
        <p:nvSpPr>
          <p:cNvPr id="17" name="bubble_label_3"/>
          <p:cNvSpPr txBox="1"/>
          <p:nvPr/>
        </p:nvSpPr>
        <p:spPr>
          <a:xfrm>
            <a:off x="4136746" y="3198114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Thailand</a:t>
            </a:r>
            <a:endParaRPr lang="en-US" sz="1100" dirty="0"/>
          </a:p>
        </p:txBody>
      </p:sp>
      <p:sp>
        <p:nvSpPr>
          <p:cNvPr id="18" name="bubble_4"/>
          <p:cNvSpPr/>
          <p:nvPr/>
        </p:nvSpPr>
        <p:spPr>
          <a:xfrm>
            <a:off x="2135124" y="2249424"/>
            <a:ext cx="411480" cy="411480"/>
          </a:xfrm>
          <a:prstGeom prst="ellipse">
            <a:avLst/>
          </a:prstGeom>
          <a:solidFill>
            <a:schemeClr val="accent5">
              <a:alpha val="90000"/>
            </a:schemeClr>
          </a:solidFill>
          <a:ln/>
        </p:spPr>
      </p:sp>
      <p:sp>
        <p:nvSpPr>
          <p:cNvPr id="19" name="bubble_label_4"/>
          <p:cNvSpPr txBox="1"/>
          <p:nvPr/>
        </p:nvSpPr>
        <p:spPr>
          <a:xfrm>
            <a:off x="1677924" y="26791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Philippines</a:t>
            </a:r>
            <a:endParaRPr lang="en-US" sz="1100" dirty="0"/>
          </a:p>
        </p:txBody>
      </p:sp>
      <p:sp>
        <p:nvSpPr>
          <p:cNvPr id="20" name="bubble_5"/>
          <p:cNvSpPr/>
          <p:nvPr/>
        </p:nvSpPr>
        <p:spPr>
          <a:xfrm>
            <a:off x="4791456" y="3538728"/>
            <a:ext cx="329184" cy="329184"/>
          </a:xfrm>
          <a:prstGeom prst="ellipse">
            <a:avLst/>
          </a:prstGeom>
          <a:solidFill>
            <a:schemeClr val="accent5">
              <a:alpha val="90000"/>
            </a:schemeClr>
          </a:solidFill>
          <a:ln/>
        </p:spPr>
      </p:sp>
      <p:sp>
        <p:nvSpPr>
          <p:cNvPr id="21" name="bubble_label_5"/>
          <p:cNvSpPr txBox="1"/>
          <p:nvPr/>
        </p:nvSpPr>
        <p:spPr>
          <a:xfrm>
            <a:off x="4334256" y="388620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Malaysia</a:t>
            </a:r>
            <a:endParaRPr lang="en-US" sz="1100" dirty="0"/>
          </a:p>
        </p:txBody>
      </p:sp>
      <p:sp>
        <p:nvSpPr>
          <p:cNvPr id="22" name="priority_head_1"/>
          <p:cNvSpPr txBox="1"/>
          <p:nvPr/>
        </p:nvSpPr>
        <p:spPr>
          <a:xfrm>
            <a:off x="621792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Priority 1  ·  2027</a:t>
            </a:r>
            <a:endParaRPr lang="en-US" sz="1400" dirty="0"/>
          </a:p>
        </p:txBody>
      </p:sp>
      <p:sp>
        <p:nvSpPr>
          <p:cNvPr id="23" name="priority_body_1"/>
          <p:cNvSpPr txBox="1"/>
          <p:nvPr/>
        </p:nvSpPr>
        <p:spPr>
          <a:xfrm>
            <a:off x="6217920" y="1673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Vietnam, Indonesia</a:t>
            </a:r>
            <a:endParaRPr lang="en-US" sz="1400" dirty="0"/>
          </a:p>
        </p:txBody>
      </p:sp>
      <p:sp>
        <p:nvSpPr>
          <p:cNvPr id="24" name="priority_head_2"/>
          <p:cNvSpPr txBox="1"/>
          <p:nvPr/>
        </p:nvSpPr>
        <p:spPr>
          <a:xfrm>
            <a:off x="621792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Priority 2  ·  2029</a:t>
            </a:r>
            <a:endParaRPr lang="en-US" sz="1400" dirty="0"/>
          </a:p>
        </p:txBody>
      </p:sp>
      <p:sp>
        <p:nvSpPr>
          <p:cNvPr id="25" name="priority_body_2"/>
          <p:cNvSpPr txBox="1"/>
          <p:nvPr/>
        </p:nvSpPr>
        <p:spPr>
          <a:xfrm>
            <a:off x="6217920" y="2679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Thailand</a:t>
            </a:r>
            <a:endParaRPr lang="en-US" sz="1400" dirty="0"/>
          </a:p>
        </p:txBody>
      </p:sp>
      <p:sp>
        <p:nvSpPr>
          <p:cNvPr id="26" name="priority_head_3"/>
          <p:cNvSpPr txBox="1"/>
          <p:nvPr/>
        </p:nvSpPr>
        <p:spPr>
          <a:xfrm>
            <a:off x="621792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Monitor</a:t>
            </a:r>
            <a:endParaRPr lang="en-US" sz="1400" dirty="0"/>
          </a:p>
        </p:txBody>
      </p:sp>
      <p:sp>
        <p:nvSpPr>
          <p:cNvPr id="27" name="priority_body_3"/>
          <p:cNvSpPr txBox="1"/>
          <p:nvPr/>
        </p:nvSpPr>
        <p:spPr>
          <a:xfrm>
            <a:off x="6217920" y="3685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Philippines, Malaysia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We request approval to start partner selection now, with a go/no-go decision at the end of January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Source: programme plan</a:t>
            </a:r>
            <a:endParaRPr lang="en-US" sz="1000" dirty="0"/>
          </a:p>
        </p:txBody>
      </p:sp>
      <p:sp>
        <p:nvSpPr>
          <p:cNvPr id="5" name="month_1"/>
          <p:cNvSpPr txBox="1"/>
          <p:nvPr/>
        </p:nvSpPr>
        <p:spPr>
          <a:xfrm>
            <a:off x="3017520" y="1371600"/>
            <a:ext cx="1848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Nov 2026</a:t>
            </a:r>
            <a:endParaRPr lang="en-US" sz="1200" dirty="0"/>
          </a:p>
        </p:txBody>
      </p:sp>
      <p:sp>
        <p:nvSpPr>
          <p:cNvPr id="6" name="month_2"/>
          <p:cNvSpPr txBox="1"/>
          <p:nvPr/>
        </p:nvSpPr>
        <p:spPr>
          <a:xfrm>
            <a:off x="4866198" y="1371600"/>
            <a:ext cx="191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Dec 2026</a:t>
            </a:r>
            <a:endParaRPr lang="en-US" sz="1200" dirty="0"/>
          </a:p>
        </p:txBody>
      </p:sp>
      <p:sp>
        <p:nvSpPr>
          <p:cNvPr id="7" name="month_rule_1"/>
          <p:cNvSpPr/>
          <p:nvPr/>
        </p:nvSpPr>
        <p:spPr>
          <a:xfrm>
            <a:off x="4866198" y="1691640"/>
            <a:ext cx="0" cy="228600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8" name="month_3"/>
          <p:cNvSpPr txBox="1"/>
          <p:nvPr/>
        </p:nvSpPr>
        <p:spPr>
          <a:xfrm>
            <a:off x="6776499" y="1371600"/>
            <a:ext cx="191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Jan 2027</a:t>
            </a:r>
            <a:endParaRPr lang="en-US" sz="1200" dirty="0"/>
          </a:p>
        </p:txBody>
      </p:sp>
      <p:sp>
        <p:nvSpPr>
          <p:cNvPr id="9" name="month_rule_2"/>
          <p:cNvSpPr/>
          <p:nvPr/>
        </p:nvSpPr>
        <p:spPr>
          <a:xfrm>
            <a:off x="6776499" y="1691640"/>
            <a:ext cx="0" cy="228600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0" name="ws_name_1"/>
          <p:cNvSpPr txBox="1"/>
          <p:nvPr/>
        </p:nvSpPr>
        <p:spPr>
          <a:xfrm>
            <a:off x="45720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Partner long-list and screening</a:t>
            </a:r>
            <a:endParaRPr lang="en-US" sz="1300" dirty="0"/>
          </a:p>
        </p:txBody>
      </p:sp>
      <p:sp>
        <p:nvSpPr>
          <p:cNvPr id="11" name="ws_bar_1"/>
          <p:cNvSpPr/>
          <p:nvPr/>
        </p:nvSpPr>
        <p:spPr>
          <a:xfrm>
            <a:off x="3017520" y="1874520"/>
            <a:ext cx="1848678" cy="2377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ws_name_2"/>
          <p:cNvSpPr txBox="1"/>
          <p:nvPr/>
        </p:nvSpPr>
        <p:spPr>
          <a:xfrm>
            <a:off x="45720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Partner due diligence</a:t>
            </a:r>
            <a:endParaRPr lang="en-US" sz="1300" dirty="0"/>
          </a:p>
        </p:txBody>
      </p:sp>
      <p:sp>
        <p:nvSpPr>
          <p:cNvPr id="13" name="ws_bar_2"/>
          <p:cNvSpPr/>
          <p:nvPr/>
        </p:nvSpPr>
        <p:spPr>
          <a:xfrm>
            <a:off x="4866198" y="2423160"/>
            <a:ext cx="2464904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ws_name_3"/>
          <p:cNvSpPr txBox="1"/>
          <p:nvPr/>
        </p:nvSpPr>
        <p:spPr>
          <a:xfrm>
            <a:off x="45720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Regulatory and licensing review</a:t>
            </a:r>
            <a:endParaRPr lang="en-US" sz="1300" dirty="0"/>
          </a:p>
        </p:txBody>
      </p:sp>
      <p:sp>
        <p:nvSpPr>
          <p:cNvPr id="15" name="ws_bar_3"/>
          <p:cNvSpPr/>
          <p:nvPr/>
        </p:nvSpPr>
        <p:spPr>
          <a:xfrm>
            <a:off x="3880237" y="2971800"/>
            <a:ext cx="4067092" cy="2377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ws_name_4"/>
          <p:cNvSpPr txBox="1"/>
          <p:nvPr/>
        </p:nvSpPr>
        <p:spPr>
          <a:xfrm>
            <a:off x="457200" y="3429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Business case refinement</a:t>
            </a:r>
            <a:endParaRPr lang="en-US" sz="1300" dirty="0"/>
          </a:p>
        </p:txBody>
      </p:sp>
      <p:sp>
        <p:nvSpPr>
          <p:cNvPr id="17" name="ws_bar_4"/>
          <p:cNvSpPr/>
          <p:nvPr/>
        </p:nvSpPr>
        <p:spPr>
          <a:xfrm>
            <a:off x="5790537" y="3520440"/>
            <a:ext cx="2526527" cy="2377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gonogo_marker"/>
          <p:cNvSpPr/>
          <p:nvPr/>
        </p:nvSpPr>
        <p:spPr>
          <a:xfrm>
            <a:off x="8417251" y="3840480"/>
            <a:ext cx="292608" cy="292608"/>
          </a:xfrm>
          <a:prstGeom prst="diamond">
            <a:avLst/>
          </a:prstGeom>
          <a:solidFill>
            <a:schemeClr val="accent4"/>
          </a:solidFill>
          <a:ln/>
        </p:spPr>
      </p:sp>
      <p:sp>
        <p:nvSpPr>
          <p:cNvPr id="19" name="gonogo_label"/>
          <p:cNvSpPr txBox="1"/>
          <p:nvPr/>
        </p:nvSpPr>
        <p:spPr>
          <a:xfrm>
            <a:off x="7100515" y="3840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Go / no-go</a:t>
            </a:r>
            <a:endParaRPr lang="en-US" sz="1200" dirty="0"/>
          </a:p>
        </p:txBody>
      </p:sp>
      <p:sp>
        <p:nvSpPr>
          <p:cNvPr id="20" name="decision_bg"/>
          <p:cNvSpPr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decision_text"/>
          <p:cNvSpPr txBox="1"/>
          <p:nvPr/>
        </p:nvSpPr>
        <p:spPr>
          <a:xfrm>
            <a:off x="640080" y="42245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Decision requested: approve $1.2M for partner due diligence and licensing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ing Navy">
  <a:themeElements>
    <a:clrScheme name="Consulting Navy">
      <a:dk1>
        <a:srgbClr val="222222"/>
      </a:dk1>
      <a:lt1>
        <a:srgbClr val="FFFFFF"/>
      </a:lt1>
      <a:dk2>
        <a:srgbClr val="0B1F3A"/>
      </a:dk2>
      <a:lt2>
        <a:srgbClr val="F2F4F7"/>
      </a:lt2>
      <a:accent1>
        <a:srgbClr val="1B998B"/>
      </a:accent1>
      <a:accent2>
        <a:srgbClr val="5B7DB1"/>
      </a:accent2>
      <a:accent3>
        <a:srgbClr val="A9B8CC"/>
      </a:accent3>
      <a:accent4>
        <a:srgbClr val="D64933"/>
      </a:accent4>
      <a:accent5>
        <a:srgbClr val="8C9AAD"/>
      </a:accent5>
      <a:accent6>
        <a:srgbClr val="F2C14E"/>
      </a:accent6>
      <a:hlink>
        <a:srgbClr val="1B998B"/>
      </a:hlink>
      <a:folHlink>
        <a:srgbClr val="5B7DB1"/>
      </a:folHlink>
    </a:clrScheme>
    <a:fontScheme name="Consulting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Strategy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Southeast Asia Market Entry</dc:title>
  <dc:subject>PptxGenJS Presentation</dc:subject>
  <dc:creator>Strategy Group</dc:creator>
  <cp:lastModifiedBy>Strategy Group</cp:lastModifiedBy>
  <cp:revision>1</cp:revision>
  <dcterms:created xsi:type="dcterms:W3CDTF">2026-10-26T05:30:38Z</dcterms:created>
  <dcterms:modified xsi:type="dcterms:W3CDTF">2026-10-26T05:30:38Z</dcterms:modified>
</cp:coreProperties>
</file>