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aba509a-a13b-de8a-6b6c-0eccfb314e60}">
          <p14:sldIdLst>
            <p14:sldId id="256"/>
          </p14:sldIdLst>
        </p14:section>
        <p14:section name="Overview" id="{0af46856-3c8a-c092-e62c-e6642d0e809b}">
          <p14:sldIdLst>
            <p14:sldId id="257"/>
            <p14:sldId id="258"/>
          </p14:sldIdLst>
        </p14:section>
        <p14:section name="Our people" id="{29305884-a67b-8ff8-01f2-963458d4c87e}">
          <p14:sldIdLst>
            <p14:sldId id="259"/>
          </p14:sldIdLst>
        </p14:section>
        <p14:section name="Milestones" id="{903cba89-e29b-6d77-5346-a56554f95c2c}">
          <p14:sldIdLst>
            <p14:sldId id="260"/>
            <p14:sldId id="261"/>
          </p14:sldIdLst>
        </p14:section>
        <p14:section name="Financial review" id="{c9a5117a-fb0f-8aca-70a2-33f92eee6d20}">
          <p14:sldIdLst>
            <p14:sldId id="262"/>
          </p14:sldIdLst>
        </p14:section>
        <p14:section name="Outlook" id="{d88ac3b8-8a3e-148c-8940-5998465db38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Workforce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2433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8B2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E7A99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8FA9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Europe</c:v>
                </c:pt>
                <c:pt idx="1">
                  <c:v>Americas</c:v>
                </c:pt>
                <c:pt idx="2">
                  <c:v>Asia Pacific</c:v>
                </c:pt>
                <c:pt idx="3">
                  <c:v>Africa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28</c:v>
                </c:pt>
                <c:pt idx="2">
                  <c:v>19</c:v>
                </c:pt>
                <c:pt idx="3">
                  <c:v>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D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4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2433"/>
                </a:solidFill>
                <a:latin typeface="+mn-lt"/>
              </a:rPr>
              <a:t>Revenue, $B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8FA9C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9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9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A9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9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8B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1.45</c:v>
                </c:pt>
                <c:pt idx="1">
                  <c:v>1.6</c:v>
                </c:pt>
                <c:pt idx="2">
                  <c:v>1.74</c:v>
                </c:pt>
                <c:pt idx="3">
                  <c:v>1.89</c:v>
                </c:pt>
                <c:pt idx="4">
                  <c:v>2.1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D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ANNUAL REPORT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301752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96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663440" y="914400"/>
            <a:ext cx="4023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4663440" y="2926080"/>
            <a:ext cx="3840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6B7280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TIC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Aurelia Group  ·  Annual Report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EDITORI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Aurelia Group  ·  Annual Report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LL_QUOT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463040"/>
            <a:ext cx="74980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30175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96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663440" y="9144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with purpose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4663440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Aurelia Group annual report and accounts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LETTER FROM THE CEO</a:t>
            </a:r>
            <a:endParaRPr lang="en-US" sz="1100" dirty="0"/>
          </a:p>
        </p:txBody>
      </p:sp>
      <p:sp>
        <p:nvSpPr>
          <p:cNvPr id="3" name="quote_mark"/>
          <p:cNvSpPr txBox="1"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ceo_quote"/>
          <p:cNvSpPr txBox="1"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was the year we proved that growth and responsibility can move in the same direction.</a:t>
            </a:r>
            <a:endParaRPr lang="en-US" sz="2400" dirty="0"/>
          </a:p>
        </p:txBody>
      </p:sp>
      <p:sp>
        <p:nvSpPr>
          <p:cNvPr id="5" name="ceo_name"/>
          <p:cNvSpPr txBox="1"/>
          <p:nvPr/>
        </p:nvSpPr>
        <p:spPr>
          <a:xfrm>
            <a:off x="54864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Elena Varga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Chief Executive Officer</a:t>
            </a:r>
            <a:endParaRPr lang="en-US" sz="1400" dirty="0"/>
          </a:p>
        </p:txBody>
      </p:sp>
      <p:sp>
        <p:nvSpPr>
          <p:cNvPr id="6" name="ceo_letter"/>
          <p:cNvSpPr txBox="1"/>
          <p:nvPr/>
        </p:nvSpPr>
        <p:spPr>
          <a:xfrm>
            <a:off x="4937760" y="82296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Revenue rose 11% to $2.1 billion, and for the first time more than half came from products launched in the last five years.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 cut operational emissions by 18%, opened two plants powered entirely by renewable energy, and welcomed 1,400 new colleagues.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Next year we will invest a record $180 million in innovation while continuing to grow our dividend.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2026 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year in numbers</a:t>
            </a:r>
            <a:endParaRPr lang="en-US" sz="3200" dirty="0"/>
          </a:p>
        </p:txBody>
      </p:sp>
      <p:sp>
        <p:nvSpPr>
          <p:cNvPr id="4" name="glance_value_1"/>
          <p:cNvSpPr txBox="1"/>
          <p:nvPr/>
        </p:nvSpPr>
        <p:spPr>
          <a:xfrm>
            <a:off x="54864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$2.1B</a:t>
            </a:r>
            <a:endParaRPr lang="en-US" sz="4400" dirty="0"/>
          </a:p>
        </p:txBody>
      </p:sp>
      <p:sp>
        <p:nvSpPr>
          <p:cNvPr id="5" name="glance_label_1"/>
          <p:cNvSpPr txBox="1"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Revenue, up 11%</a:t>
            </a:r>
            <a:endParaRPr lang="en-US" sz="1400" dirty="0"/>
          </a:p>
        </p:txBody>
      </p:sp>
      <p:sp>
        <p:nvSpPr>
          <p:cNvPr id="6" name="glance_value_2"/>
          <p:cNvSpPr txBox="1"/>
          <p:nvPr/>
        </p:nvSpPr>
        <p:spPr>
          <a:xfrm>
            <a:off x="333756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4400" dirty="0"/>
          </a:p>
        </p:txBody>
      </p:sp>
      <p:sp>
        <p:nvSpPr>
          <p:cNvPr id="7" name="glance_label_2"/>
          <p:cNvSpPr txBox="1"/>
          <p:nvPr/>
        </p:nvSpPr>
        <p:spPr>
          <a:xfrm>
            <a:off x="33375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operational emissions</a:t>
            </a:r>
            <a:endParaRPr lang="en-US" sz="1400" dirty="0"/>
          </a:p>
        </p:txBody>
      </p:sp>
      <p:sp>
        <p:nvSpPr>
          <p:cNvPr id="8" name="glance_value_3"/>
          <p:cNvSpPr txBox="1"/>
          <p:nvPr/>
        </p:nvSpPr>
        <p:spPr>
          <a:xfrm>
            <a:off x="612648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14,200</a:t>
            </a:r>
            <a:endParaRPr lang="en-US" sz="4400" dirty="0"/>
          </a:p>
        </p:txBody>
      </p:sp>
      <p:sp>
        <p:nvSpPr>
          <p:cNvPr id="9" name="glance_label_3"/>
          <p:cNvSpPr txBox="1"/>
          <p:nvPr/>
        </p:nvSpPr>
        <p:spPr>
          <a:xfrm>
            <a:off x="61264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Colleagues in 23 countries</a:t>
            </a:r>
            <a:endParaRPr lang="en-US" sz="1400" dirty="0"/>
          </a:p>
        </p:txBody>
      </p:sp>
      <p:sp>
        <p:nvSpPr>
          <p:cNvPr id="10" name="glance_value_4"/>
          <p:cNvSpPr txBox="1"/>
          <p:nvPr/>
        </p:nvSpPr>
        <p:spPr>
          <a:xfrm>
            <a:off x="54864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400" dirty="0"/>
          </a:p>
        </p:txBody>
      </p:sp>
      <p:sp>
        <p:nvSpPr>
          <p:cNvPr id="11" name="glance_label_4"/>
          <p:cNvSpPr txBox="1"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from new products</a:t>
            </a:r>
            <a:endParaRPr lang="en-US" sz="1400" dirty="0"/>
          </a:p>
        </p:txBody>
      </p:sp>
      <p:sp>
        <p:nvSpPr>
          <p:cNvPr id="12" name="glance_value_5"/>
          <p:cNvSpPr txBox="1"/>
          <p:nvPr/>
        </p:nvSpPr>
        <p:spPr>
          <a:xfrm>
            <a:off x="333756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$180M</a:t>
            </a:r>
            <a:endParaRPr lang="en-US" sz="4400" dirty="0"/>
          </a:p>
        </p:txBody>
      </p:sp>
      <p:sp>
        <p:nvSpPr>
          <p:cNvPr id="13" name="glance_label_5"/>
          <p:cNvSpPr txBox="1"/>
          <p:nvPr/>
        </p:nvSpPr>
        <p:spPr>
          <a:xfrm>
            <a:off x="33375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Committed to innovation in 2027</a:t>
            </a:r>
            <a:endParaRPr lang="en-US" sz="1400" dirty="0"/>
          </a:p>
        </p:txBody>
      </p:sp>
      <p:sp>
        <p:nvSpPr>
          <p:cNvPr id="14" name="glance_value_6"/>
          <p:cNvSpPr txBox="1"/>
          <p:nvPr/>
        </p:nvSpPr>
        <p:spPr>
          <a:xfrm>
            <a:off x="612648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/ 5</a:t>
            </a:r>
            <a:endParaRPr lang="en-US" sz="4400" dirty="0"/>
          </a:p>
        </p:txBody>
      </p:sp>
      <p:sp>
        <p:nvSpPr>
          <p:cNvPr id="15" name="glance_label_6"/>
          <p:cNvSpPr txBox="1"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satisfaction</a:t>
            </a:r>
            <a:endParaRPr lang="en-US" sz="1400" dirty="0"/>
          </a:p>
        </p:txBody>
      </p:sp>
      <p:sp>
        <p:nvSpPr>
          <p:cNvPr id="16" name="glance_rule"/>
          <p:cNvSpPr/>
          <p:nvPr/>
        </p:nvSpPr>
        <p:spPr>
          <a:xfrm>
            <a:off x="548640" y="2971800"/>
            <a:ext cx="804672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panel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chapter_number"/>
          <p:cNvSpPr txBox="1"/>
          <p:nvPr/>
        </p:nvSpPr>
        <p:spPr>
          <a:xfrm>
            <a:off x="5394960" y="640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chapter_title"/>
          <p:cNvSpPr txBox="1"/>
          <p:nvPr/>
        </p:nvSpPr>
        <p:spPr>
          <a:xfrm>
            <a:off x="53949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people</a:t>
            </a:r>
            <a:endParaRPr lang="en-US" sz="3400" dirty="0"/>
          </a:p>
        </p:txBody>
      </p:sp>
      <p:sp>
        <p:nvSpPr>
          <p:cNvPr id="5" name="chapter_body"/>
          <p:cNvSpPr txBox="1"/>
          <p:nvPr/>
        </p:nvSpPr>
        <p:spPr>
          <a:xfrm>
            <a:off x="5394960" y="2468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CE5"/>
                </a:solidFill>
              </a:rPr>
              <a:t>We grew our workforce by 11% and made leadership more representative of the communities we serve.</a:t>
            </a:r>
            <a:endParaRPr lang="en-US" sz="1500" dirty="0"/>
          </a:p>
        </p:txBody>
      </p:sp>
      <p:sp>
        <p:nvSpPr>
          <p:cNvPr id="6" name="chart_kicker"/>
          <p:cNvSpPr txBox="1"/>
          <p:nvPr/>
        </p:nvSpPr>
        <p:spPr>
          <a:xfrm>
            <a:off x="548640" y="365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WORKFORCE BY REGION</a:t>
            </a:r>
            <a:endParaRPr lang="en-US" sz="1100" dirty="0"/>
          </a:p>
        </p:txBody>
      </p:sp>
      <p:graphicFrame>
        <p:nvGraphicFramePr>
          <p:cNvPr id="7" name="workforce_chart" descr=""/>
          <p:cNvGraphicFramePr/>
          <p:nvPr/>
        </p:nvGraphicFramePr>
        <p:xfrm>
          <a:off x="365760" y="73152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leadership_stat"/>
          <p:cNvSpPr txBox="1"/>
          <p:nvPr/>
        </p:nvSpPr>
        <p:spPr>
          <a:xfrm>
            <a:off x="548640" y="36118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98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</a:rPr>
              <a:t>of leadership roles held by women, up from 35%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MILESTONES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of firsts</a:t>
            </a:r>
            <a:endParaRPr lang="en-US" sz="3200" dirty="0"/>
          </a:p>
        </p:txBody>
      </p:sp>
      <p:sp>
        <p:nvSpPr>
          <p:cNvPr id="4" name="timeline_line"/>
          <p:cNvSpPr/>
          <p:nvPr/>
        </p:nvSpPr>
        <p:spPr>
          <a:xfrm>
            <a:off x="548640" y="2880360"/>
            <a:ext cx="8046720" cy="0"/>
          </a:xfrm>
          <a:prstGeom prst="line">
            <a:avLst/>
          </a:prstGeom>
          <a:noFill/>
          <a:ln w="15875">
            <a:solidFill>
              <a:srgbClr val="1D2433"/>
            </a:solidFill>
            <a:prstDash val="solid"/>
          </a:ln>
        </p:spPr>
      </p:sp>
      <p:sp>
        <p:nvSpPr>
          <p:cNvPr id="5" name="milestone_dot_1"/>
          <p:cNvSpPr/>
          <p:nvPr/>
        </p:nvSpPr>
        <p:spPr>
          <a:xfrm>
            <a:off x="10607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milestone_tick_1"/>
          <p:cNvSpPr/>
          <p:nvPr/>
        </p:nvSpPr>
        <p:spPr>
          <a:xfrm>
            <a:off x="1143000" y="2560320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7" name="milestone_month_1"/>
          <p:cNvSpPr txBox="1"/>
          <p:nvPr/>
        </p:nvSpPr>
        <p:spPr>
          <a:xfrm>
            <a:off x="4572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FEB</a:t>
            </a:r>
            <a:endParaRPr lang="en-US" sz="1300" dirty="0"/>
          </a:p>
        </p:txBody>
      </p:sp>
      <p:sp>
        <p:nvSpPr>
          <p:cNvPr id="8" name="milestone_text_1"/>
          <p:cNvSpPr txBox="1"/>
          <p:nvPr/>
        </p:nvSpPr>
        <p:spPr>
          <a:xfrm>
            <a:off x="4572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Opened solar-powered Lyon plant</a:t>
            </a:r>
            <a:endParaRPr lang="en-US" sz="1300" dirty="0"/>
          </a:p>
        </p:txBody>
      </p:sp>
      <p:sp>
        <p:nvSpPr>
          <p:cNvPr id="9" name="milestone_dot_2"/>
          <p:cNvSpPr/>
          <p:nvPr/>
        </p:nvSpPr>
        <p:spPr>
          <a:xfrm>
            <a:off x="24323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milestone_tick_2"/>
          <p:cNvSpPr/>
          <p:nvPr/>
        </p:nvSpPr>
        <p:spPr>
          <a:xfrm>
            <a:off x="2514600" y="2990088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11" name="milestone_month_2"/>
          <p:cNvSpPr txBox="1"/>
          <p:nvPr/>
        </p:nvSpPr>
        <p:spPr>
          <a:xfrm>
            <a:off x="18288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APR</a:t>
            </a:r>
            <a:endParaRPr lang="en-US" sz="1300" dirty="0"/>
          </a:p>
        </p:txBody>
      </p:sp>
      <p:sp>
        <p:nvSpPr>
          <p:cNvPr id="12" name="milestone_text_2"/>
          <p:cNvSpPr txBox="1"/>
          <p:nvPr/>
        </p:nvSpPr>
        <p:spPr>
          <a:xfrm>
            <a:off x="18288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Acquired GreenLeaf Organics</a:t>
            </a:r>
            <a:endParaRPr lang="en-US" sz="1300" dirty="0"/>
          </a:p>
        </p:txBody>
      </p:sp>
      <p:sp>
        <p:nvSpPr>
          <p:cNvPr id="13" name="milestone_dot_3"/>
          <p:cNvSpPr/>
          <p:nvPr/>
        </p:nvSpPr>
        <p:spPr>
          <a:xfrm>
            <a:off x="38039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milestone_tick_3"/>
          <p:cNvSpPr/>
          <p:nvPr/>
        </p:nvSpPr>
        <p:spPr>
          <a:xfrm>
            <a:off x="3886200" y="2560320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15" name="milestone_month_3"/>
          <p:cNvSpPr txBox="1"/>
          <p:nvPr/>
        </p:nvSpPr>
        <p:spPr>
          <a:xfrm>
            <a:off x="32004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JUN</a:t>
            </a:r>
            <a:endParaRPr lang="en-US" sz="1300" dirty="0"/>
          </a:p>
        </p:txBody>
      </p:sp>
      <p:sp>
        <p:nvSpPr>
          <p:cNvPr id="16" name="milestone_text_3"/>
          <p:cNvSpPr txBox="1"/>
          <p:nvPr/>
        </p:nvSpPr>
        <p:spPr>
          <a:xfrm>
            <a:off x="32004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Launched 40 plant-based products</a:t>
            </a:r>
            <a:endParaRPr lang="en-US" sz="1300" dirty="0"/>
          </a:p>
        </p:txBody>
      </p:sp>
      <p:sp>
        <p:nvSpPr>
          <p:cNvPr id="17" name="milestone_dot_4"/>
          <p:cNvSpPr/>
          <p:nvPr/>
        </p:nvSpPr>
        <p:spPr>
          <a:xfrm>
            <a:off x="51755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milestone_tick_4"/>
          <p:cNvSpPr/>
          <p:nvPr/>
        </p:nvSpPr>
        <p:spPr>
          <a:xfrm>
            <a:off x="5257800" y="2990088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19" name="milestone_month_4"/>
          <p:cNvSpPr txBox="1"/>
          <p:nvPr/>
        </p:nvSpPr>
        <p:spPr>
          <a:xfrm>
            <a:off x="45720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AUG</a:t>
            </a:r>
            <a:endParaRPr lang="en-US" sz="1300" dirty="0"/>
          </a:p>
        </p:txBody>
      </p:sp>
      <p:sp>
        <p:nvSpPr>
          <p:cNvPr id="20" name="milestone_text_4"/>
          <p:cNvSpPr txBox="1"/>
          <p:nvPr/>
        </p:nvSpPr>
        <p:spPr>
          <a:xfrm>
            <a:off x="45720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100% renewable power across the EU</a:t>
            </a:r>
            <a:endParaRPr lang="en-US" sz="1300" dirty="0"/>
          </a:p>
        </p:txBody>
      </p:sp>
      <p:sp>
        <p:nvSpPr>
          <p:cNvPr id="21" name="milestone_dot_5"/>
          <p:cNvSpPr/>
          <p:nvPr/>
        </p:nvSpPr>
        <p:spPr>
          <a:xfrm>
            <a:off x="65471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milestone_tick_5"/>
          <p:cNvSpPr/>
          <p:nvPr/>
        </p:nvSpPr>
        <p:spPr>
          <a:xfrm>
            <a:off x="6629400" y="2560320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23" name="milestone_month_5"/>
          <p:cNvSpPr txBox="1"/>
          <p:nvPr/>
        </p:nvSpPr>
        <p:spPr>
          <a:xfrm>
            <a:off x="59436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OCT</a:t>
            </a:r>
            <a:endParaRPr lang="en-US" sz="1300" dirty="0"/>
          </a:p>
        </p:txBody>
      </p:sp>
      <p:sp>
        <p:nvSpPr>
          <p:cNvPr id="24" name="milestone_text_5"/>
          <p:cNvSpPr txBox="1"/>
          <p:nvPr/>
        </p:nvSpPr>
        <p:spPr>
          <a:xfrm>
            <a:off x="5943600" y="1874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Entered the Vietnam market</a:t>
            </a:r>
            <a:endParaRPr lang="en-US" sz="1300" dirty="0"/>
          </a:p>
        </p:txBody>
      </p:sp>
      <p:sp>
        <p:nvSpPr>
          <p:cNvPr id="25" name="milestone_dot_6"/>
          <p:cNvSpPr/>
          <p:nvPr/>
        </p:nvSpPr>
        <p:spPr>
          <a:xfrm>
            <a:off x="7918704" y="2798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milestone_tick_6"/>
          <p:cNvSpPr/>
          <p:nvPr/>
        </p:nvSpPr>
        <p:spPr>
          <a:xfrm>
            <a:off x="8001000" y="2990088"/>
            <a:ext cx="0" cy="210312"/>
          </a:xfrm>
          <a:prstGeom prst="line">
            <a:avLst/>
          </a:prstGeom>
          <a:noFill/>
          <a:ln w="12700">
            <a:solidFill>
              <a:srgbClr val="C98B2B"/>
            </a:solidFill>
            <a:prstDash val="solid"/>
          </a:ln>
        </p:spPr>
      </p:sp>
      <p:sp>
        <p:nvSpPr>
          <p:cNvPr id="27" name="milestone_month_6"/>
          <p:cNvSpPr txBox="1"/>
          <p:nvPr/>
        </p:nvSpPr>
        <p:spPr>
          <a:xfrm>
            <a:off x="73152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DEC</a:t>
            </a:r>
            <a:endParaRPr lang="en-US" sz="1300" dirty="0"/>
          </a:p>
        </p:txBody>
      </p:sp>
      <p:sp>
        <p:nvSpPr>
          <p:cNvPr id="28" name="milestone_text_6"/>
          <p:cNvSpPr txBox="1"/>
          <p:nvPr/>
        </p:nvSpPr>
        <p:spPr>
          <a:xfrm>
            <a:off x="73152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 employer in nine countries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46304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 success by what we leave behind, not only by what we earn.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Marcus Lindqvist, Chair of the Board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FINANCIAL 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years of steady, profitable growth</a:t>
            </a:r>
            <a:endParaRPr lang="en-US" sz="3200" dirty="0"/>
          </a:p>
        </p:txBody>
      </p:sp>
      <p:graphicFrame>
        <p:nvGraphicFramePr>
          <p:cNvPr id="4" name="revenue_chart" descr=""/>
          <p:cNvGraphicFramePr/>
          <p:nvPr/>
        </p:nvGraphicFramePr>
        <p:xfrm>
          <a:off x="457200" y="146304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kpi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00200"/>
          <a:ext cx="3291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98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98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D24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$1.89B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$2.10B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$248M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per share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LOOKING AHEAD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priorities for 2027</a:t>
            </a:r>
            <a:endParaRPr lang="en-US" sz="3200" dirty="0"/>
          </a:p>
        </p:txBody>
      </p:sp>
      <p:sp>
        <p:nvSpPr>
          <p:cNvPr id="4" name="priority_num_1"/>
          <p:cNvSpPr txBox="1"/>
          <p:nvPr/>
        </p:nvSpPr>
        <p:spPr>
          <a:xfrm>
            <a:off x="54864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priority_head_1"/>
          <p:cNvSpPr txBox="1"/>
          <p:nvPr/>
        </p:nvSpPr>
        <p:spPr>
          <a:xfrm>
            <a:off x="5486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faster</a:t>
            </a:r>
            <a:endParaRPr lang="en-US" sz="2000" dirty="0"/>
          </a:p>
        </p:txBody>
      </p:sp>
      <p:sp>
        <p:nvSpPr>
          <p:cNvPr id="6" name="priority_body_1"/>
          <p:cNvSpPr txBox="1"/>
          <p:nvPr/>
        </p:nvSpPr>
        <p:spPr>
          <a:xfrm>
            <a:off x="54864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 the share of revenue from products launched in the last three years.</a:t>
            </a:r>
            <a:endParaRPr lang="en-US" sz="1400" dirty="0"/>
          </a:p>
        </p:txBody>
      </p:sp>
      <p:sp>
        <p:nvSpPr>
          <p:cNvPr id="7" name="priority_num_2"/>
          <p:cNvSpPr txBox="1"/>
          <p:nvPr/>
        </p:nvSpPr>
        <p:spPr>
          <a:xfrm>
            <a:off x="333756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priority_head_2"/>
          <p:cNvSpPr txBox="1"/>
          <p:nvPr/>
        </p:nvSpPr>
        <p:spPr>
          <a:xfrm>
            <a:off x="333756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Decarbonise</a:t>
            </a:r>
            <a:endParaRPr lang="en-US" sz="2000" dirty="0"/>
          </a:p>
        </p:txBody>
      </p:sp>
      <p:sp>
        <p:nvSpPr>
          <p:cNvPr id="9" name="priority_body_2"/>
          <p:cNvSpPr txBox="1"/>
          <p:nvPr/>
        </p:nvSpPr>
        <p:spPr>
          <a:xfrm>
            <a:off x="333756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Reach net-zero operations in Europe and cut supply-chain emissions by 25%.</a:t>
            </a:r>
            <a:endParaRPr lang="en-US" sz="1400" dirty="0"/>
          </a:p>
        </p:txBody>
      </p:sp>
      <p:sp>
        <p:nvSpPr>
          <p:cNvPr id="10" name="priority_num_3"/>
          <p:cNvSpPr txBox="1"/>
          <p:nvPr/>
        </p:nvSpPr>
        <p:spPr>
          <a:xfrm>
            <a:off x="612648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priority_head_3"/>
          <p:cNvSpPr txBox="1"/>
          <p:nvPr/>
        </p:nvSpPr>
        <p:spPr>
          <a:xfrm>
            <a:off x="612648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in Asia</a:t>
            </a:r>
            <a:endParaRPr lang="en-US" sz="2000" dirty="0"/>
          </a:p>
        </p:txBody>
      </p:sp>
      <p:sp>
        <p:nvSpPr>
          <p:cNvPr id="12" name="priority_body_3"/>
          <p:cNvSpPr txBox="1"/>
          <p:nvPr/>
        </p:nvSpPr>
        <p:spPr>
          <a:xfrm>
            <a:off x="6126480" y="3017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$300M business across Vietnam, Indonesia and Thailand by 2029.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 Ink">
  <a:themeElements>
    <a:clrScheme name="Editorial Ink">
      <a:dk1>
        <a:srgbClr val="1D2433"/>
      </a:dk1>
      <a:lt1>
        <a:srgbClr val="FFFFFF"/>
      </a:lt1>
      <a:dk2>
        <a:srgbClr val="1D2433"/>
      </a:dk2>
      <a:lt2>
        <a:srgbClr val="F2F4F7"/>
      </a:lt2>
      <a:accent1>
        <a:srgbClr val="C98B2B"/>
      </a:accent1>
      <a:accent2>
        <a:srgbClr val="8FA9C4"/>
      </a:accent2>
      <a:accent3>
        <a:srgbClr val="5E7A99"/>
      </a:accent3>
      <a:accent4>
        <a:srgbClr val="E9D3A8"/>
      </a:accent4>
      <a:accent5>
        <a:srgbClr val="7A8B5C"/>
      </a:accent5>
      <a:accent6>
        <a:srgbClr val="A3473A"/>
      </a:accent6>
      <a:hlink>
        <a:srgbClr val="C98B2B"/>
      </a:hlink>
      <a:folHlink>
        <a:srgbClr val="5E7A99"/>
      </a:folHlink>
    </a:clrScheme>
    <a:fontScheme name="Editorial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Aurelia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Aurelia Group Annual Report 2026</dc:title>
  <dc:subject>PptxGenJS Presentation</dc:subject>
  <dc:creator>Aurelia Group</dc:creator>
  <cp:lastModifiedBy>Aurelia Group</cp:lastModifiedBy>
  <cp:revision>1</cp:revision>
  <dcterms:created xsi:type="dcterms:W3CDTF">2026-10-26T05:30:39Z</dcterms:created>
  <dcterms:modified xsi:type="dcterms:W3CDTF">2026-10-26T05:30:39Z</dcterms:modified>
</cp:coreProperties>
</file>