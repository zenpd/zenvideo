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8f1c1767-f676-315f-0d8a-4e31e8455ae4}">
          <p14:sldIdLst>
            <p14:sldId id="256"/>
          </p14:sldIdLst>
        </p14:section>
        <p14:section name="Overview" id="{9eb5afe7-927e-90fa-1d29-5e9fe3b0fe81}">
          <p14:sldIdLst>
            <p14:sldId id="257"/>
          </p14:sldIdLst>
        </p14:section>
        <p14:section name="Scope" id="{aa660b7d-173f-87f6-9eaf-0df465d4bb8b}">
          <p14:sldIdLst>
            <p14:sldId id="258"/>
          </p14:sldIdLst>
        </p14:section>
        <p14:section name="Timeline" id="{783cfc48-5db2-a13b-aef8-d4b118874340}">
          <p14:sldIdLst>
            <p14:sldId id="259"/>
          </p14:sldIdLst>
        </p14:section>
        <p14:section name="Governance" id="{366d72f2-7a0c-20d5-db8f-67a796daa2f6}">
          <p14:sldIdLst>
            <p14:sldId id="260"/>
          </p14:sldIdLst>
        </p14:section>
        <p14:section name="Responsibilities" id="{32c7b1e1-21f3-a4b2-56aa-55fdb76e009c}">
          <p14:sldIdLst>
            <p14:sldId id="261"/>
          </p14:sldIdLst>
        </p14:section>
        <p14:section name="Budget" id="{2982d9a1-c6b1-1099-83fc-7e904bc14421}">
          <p14:sldIdLst>
            <p14:sldId id="262"/>
          </p14:sldIdLst>
        </p14:section>
        <p14:section name="Next steps" id="{101272f6-2bb0-c7c2-19fb-8431e87eefe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5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5F9EA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3641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FD16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7C8B9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Delivery partner</c:v>
                </c:pt>
                <c:pt idx="1">
                  <c:v>Software licences</c:v>
                </c:pt>
                <c:pt idx="2">
                  <c:v>Internal team</c:v>
                </c:pt>
                <c:pt idx="3">
                  <c:v>Training and change</c:v>
                </c:pt>
                <c:pt idx="4">
                  <c:v>Contingency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3.1</c:v>
                </c:pt>
                <c:pt idx="1">
                  <c:v>2.9</c:v>
                </c:pt>
                <c:pt idx="2">
                  <c:v>1.5</c:v>
                </c:pt>
                <c:pt idx="3">
                  <c:v>0.6</c:v>
                </c:pt>
                <c:pt idx="4">
                  <c:v>0.5</c:v>
                </c:pt>
              </c:numCache>
            </c:numRef>
          </c:val>
        </c:ser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49377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46888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_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4"/>
                </a:solidFill>
              </a:rPr>
              <a:t>PROJECT ATLAS</a:t>
            </a:r>
            <a:endParaRPr lang="en-US" sz="11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2743200" y="365760"/>
            <a:ext cx="5943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1C7"/>
                </a:solidFill>
              </a:rPr>
              <a:t>Kickoff  ·  November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Project Atlas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468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Programme kickoff: ERP modernisation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Kickoff meeting  ·  3 November 2026</a:t>
            </a:r>
            <a:endParaRPr lang="en-US" sz="1200" dirty="0"/>
          </a:p>
        </p:txBody>
      </p:sp>
      <p:sp>
        <p:nvSpPr>
          <p:cNvPr id="5" name="dot_0_0"/>
          <p:cNvSpPr/>
          <p:nvPr/>
        </p:nvSpPr>
        <p:spPr>
          <a:xfrm>
            <a:off x="6217920" y="9144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6" name="dot_0_1"/>
          <p:cNvSpPr/>
          <p:nvPr/>
        </p:nvSpPr>
        <p:spPr>
          <a:xfrm>
            <a:off x="6675120" y="9144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7" name="dot_0_2"/>
          <p:cNvSpPr/>
          <p:nvPr/>
        </p:nvSpPr>
        <p:spPr>
          <a:xfrm>
            <a:off x="7132320" y="9144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8" name="dot_0_3"/>
          <p:cNvSpPr/>
          <p:nvPr/>
        </p:nvSpPr>
        <p:spPr>
          <a:xfrm>
            <a:off x="7589520" y="9144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9" name="dot_0_4"/>
          <p:cNvSpPr/>
          <p:nvPr/>
        </p:nvSpPr>
        <p:spPr>
          <a:xfrm>
            <a:off x="8046720" y="9144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0" name="dot_0_5"/>
          <p:cNvSpPr/>
          <p:nvPr/>
        </p:nvSpPr>
        <p:spPr>
          <a:xfrm>
            <a:off x="8503920" y="9144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1" name="dot_1_0"/>
          <p:cNvSpPr/>
          <p:nvPr/>
        </p:nvSpPr>
        <p:spPr>
          <a:xfrm>
            <a:off x="6217920" y="13716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2" name="dot_1_1"/>
          <p:cNvSpPr/>
          <p:nvPr/>
        </p:nvSpPr>
        <p:spPr>
          <a:xfrm>
            <a:off x="6675120" y="13716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3" name="dot_1_2"/>
          <p:cNvSpPr/>
          <p:nvPr/>
        </p:nvSpPr>
        <p:spPr>
          <a:xfrm>
            <a:off x="7132320" y="13716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4" name="dot_1_3"/>
          <p:cNvSpPr/>
          <p:nvPr/>
        </p:nvSpPr>
        <p:spPr>
          <a:xfrm>
            <a:off x="7589520" y="13716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5" name="dot_1_4"/>
          <p:cNvSpPr/>
          <p:nvPr/>
        </p:nvSpPr>
        <p:spPr>
          <a:xfrm>
            <a:off x="8046720" y="13716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6" name="dot_1_5"/>
          <p:cNvSpPr/>
          <p:nvPr/>
        </p:nvSpPr>
        <p:spPr>
          <a:xfrm>
            <a:off x="8503920" y="13716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7" name="dot_2_0"/>
          <p:cNvSpPr/>
          <p:nvPr/>
        </p:nvSpPr>
        <p:spPr>
          <a:xfrm>
            <a:off x="6217920" y="18288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8" name="dot_2_1"/>
          <p:cNvSpPr/>
          <p:nvPr/>
        </p:nvSpPr>
        <p:spPr>
          <a:xfrm>
            <a:off x="6675120" y="18288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19" name="dot_2_2"/>
          <p:cNvSpPr/>
          <p:nvPr/>
        </p:nvSpPr>
        <p:spPr>
          <a:xfrm>
            <a:off x="7132320" y="18288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0" name="dot_2_3"/>
          <p:cNvSpPr/>
          <p:nvPr/>
        </p:nvSpPr>
        <p:spPr>
          <a:xfrm>
            <a:off x="7589520" y="18288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dot_2_4"/>
          <p:cNvSpPr/>
          <p:nvPr/>
        </p:nvSpPr>
        <p:spPr>
          <a:xfrm>
            <a:off x="8046720" y="18288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2" name="dot_2_5"/>
          <p:cNvSpPr/>
          <p:nvPr/>
        </p:nvSpPr>
        <p:spPr>
          <a:xfrm>
            <a:off x="8503920" y="18288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3" name="dot_3_0"/>
          <p:cNvSpPr/>
          <p:nvPr/>
        </p:nvSpPr>
        <p:spPr>
          <a:xfrm>
            <a:off x="6217920" y="22860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4" name="dot_3_1"/>
          <p:cNvSpPr/>
          <p:nvPr/>
        </p:nvSpPr>
        <p:spPr>
          <a:xfrm>
            <a:off x="6675120" y="22860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5" name="dot_3_2"/>
          <p:cNvSpPr/>
          <p:nvPr/>
        </p:nvSpPr>
        <p:spPr>
          <a:xfrm>
            <a:off x="7132320" y="22860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6" name="dot_3_3"/>
          <p:cNvSpPr/>
          <p:nvPr/>
        </p:nvSpPr>
        <p:spPr>
          <a:xfrm>
            <a:off x="7589520" y="22860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7" name="dot_3_4"/>
          <p:cNvSpPr/>
          <p:nvPr/>
        </p:nvSpPr>
        <p:spPr>
          <a:xfrm>
            <a:off x="8046720" y="22860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8" name="dot_3_5"/>
          <p:cNvSpPr/>
          <p:nvPr/>
        </p:nvSpPr>
        <p:spPr>
          <a:xfrm>
            <a:off x="8503920" y="22860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9" name="dot_4_0"/>
          <p:cNvSpPr/>
          <p:nvPr/>
        </p:nvSpPr>
        <p:spPr>
          <a:xfrm>
            <a:off x="6217920" y="27432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0" name="dot_4_1"/>
          <p:cNvSpPr/>
          <p:nvPr/>
        </p:nvSpPr>
        <p:spPr>
          <a:xfrm>
            <a:off x="6675120" y="27432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dot_4_2"/>
          <p:cNvSpPr/>
          <p:nvPr/>
        </p:nvSpPr>
        <p:spPr>
          <a:xfrm>
            <a:off x="7132320" y="27432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2" name="dot_4_3"/>
          <p:cNvSpPr/>
          <p:nvPr/>
        </p:nvSpPr>
        <p:spPr>
          <a:xfrm>
            <a:off x="7589520" y="27432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3" name="dot_4_4"/>
          <p:cNvSpPr/>
          <p:nvPr/>
        </p:nvSpPr>
        <p:spPr>
          <a:xfrm>
            <a:off x="8046720" y="27432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4" name="dot_4_5"/>
          <p:cNvSpPr/>
          <p:nvPr/>
        </p:nvSpPr>
        <p:spPr>
          <a:xfrm>
            <a:off x="8503920" y="27432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5" name="dot_5_0"/>
          <p:cNvSpPr/>
          <p:nvPr/>
        </p:nvSpPr>
        <p:spPr>
          <a:xfrm>
            <a:off x="6217920" y="32004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6" name="dot_5_1"/>
          <p:cNvSpPr/>
          <p:nvPr/>
        </p:nvSpPr>
        <p:spPr>
          <a:xfrm>
            <a:off x="6675120" y="32004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7" name="dot_5_2"/>
          <p:cNvSpPr/>
          <p:nvPr/>
        </p:nvSpPr>
        <p:spPr>
          <a:xfrm>
            <a:off x="7132320" y="32004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8" name="dot_5_3"/>
          <p:cNvSpPr/>
          <p:nvPr/>
        </p:nvSpPr>
        <p:spPr>
          <a:xfrm>
            <a:off x="7589520" y="32004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39" name="dot_5_4"/>
          <p:cNvSpPr/>
          <p:nvPr/>
        </p:nvSpPr>
        <p:spPr>
          <a:xfrm>
            <a:off x="8046720" y="32004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dot_5_5"/>
          <p:cNvSpPr/>
          <p:nvPr/>
        </p:nvSpPr>
        <p:spPr>
          <a:xfrm>
            <a:off x="8503920" y="32004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41" name="dot_6_0"/>
          <p:cNvSpPr/>
          <p:nvPr/>
        </p:nvSpPr>
        <p:spPr>
          <a:xfrm>
            <a:off x="6217920" y="36576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42" name="dot_6_1"/>
          <p:cNvSpPr/>
          <p:nvPr/>
        </p:nvSpPr>
        <p:spPr>
          <a:xfrm>
            <a:off x="6675120" y="36576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43" name="dot_6_2"/>
          <p:cNvSpPr/>
          <p:nvPr/>
        </p:nvSpPr>
        <p:spPr>
          <a:xfrm>
            <a:off x="7132320" y="36576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44" name="dot_6_3"/>
          <p:cNvSpPr/>
          <p:nvPr/>
        </p:nvSpPr>
        <p:spPr>
          <a:xfrm>
            <a:off x="7589520" y="36576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45" name="dot_6_4"/>
          <p:cNvSpPr/>
          <p:nvPr/>
        </p:nvSpPr>
        <p:spPr>
          <a:xfrm>
            <a:off x="8046720" y="36576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46" name="dot_6_5"/>
          <p:cNvSpPr/>
          <p:nvPr/>
        </p:nvSpPr>
        <p:spPr>
          <a:xfrm>
            <a:off x="8503920" y="3657600"/>
            <a:ext cx="182880" cy="182880"/>
          </a:xfrm>
          <a:prstGeom prst="ellipse">
            <a:avLst/>
          </a:prstGeom>
          <a:solidFill>
            <a:schemeClr val="accent2">
              <a:alpha val="70000"/>
            </a:scheme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2743200" y="3657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Why we are doing this</a:t>
            </a:r>
            <a:endParaRPr lang="en-US" sz="2400" dirty="0"/>
          </a:p>
        </p:txBody>
      </p:sp>
      <p:sp>
        <p:nvSpPr>
          <p:cNvPr id="3" name="nav_marker"/>
          <p:cNvSpPr/>
          <p:nvPr/>
        </p:nvSpPr>
        <p:spPr>
          <a:xfrm>
            <a:off x="365760" y="121615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nav_item_1"/>
          <p:cNvSpPr txBox="1"/>
          <p:nvPr/>
        </p:nvSpPr>
        <p:spPr>
          <a:xfrm>
            <a:off x="621792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Overview</a:t>
            </a:r>
            <a:endParaRPr lang="en-US" sz="1400" dirty="0"/>
          </a:p>
        </p:txBody>
      </p:sp>
      <p:sp>
        <p:nvSpPr>
          <p:cNvPr id="5" name="nav_item_2"/>
          <p:cNvSpPr txBox="1"/>
          <p:nvPr/>
        </p:nvSpPr>
        <p:spPr>
          <a:xfrm>
            <a:off x="621792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Scope</a:t>
            </a:r>
            <a:endParaRPr lang="en-US" sz="1400" dirty="0"/>
          </a:p>
        </p:txBody>
      </p:sp>
      <p:sp>
        <p:nvSpPr>
          <p:cNvPr id="6" name="nav_item_3"/>
          <p:cNvSpPr txBox="1"/>
          <p:nvPr/>
        </p:nvSpPr>
        <p:spPr>
          <a:xfrm>
            <a:off x="621792" y="19751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Timeline</a:t>
            </a:r>
            <a:endParaRPr lang="en-US" sz="1400" dirty="0"/>
          </a:p>
        </p:txBody>
      </p:sp>
      <p:sp>
        <p:nvSpPr>
          <p:cNvPr id="7" name="nav_item_4"/>
          <p:cNvSpPr txBox="1"/>
          <p:nvPr/>
        </p:nvSpPr>
        <p:spPr>
          <a:xfrm>
            <a:off x="621792" y="24140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8" name="nav_item_5"/>
          <p:cNvSpPr txBox="1"/>
          <p:nvPr/>
        </p:nvSpPr>
        <p:spPr>
          <a:xfrm>
            <a:off x="621792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Responsibilities</a:t>
            </a:r>
            <a:endParaRPr lang="en-US" sz="1400" dirty="0"/>
          </a:p>
        </p:txBody>
      </p:sp>
      <p:sp>
        <p:nvSpPr>
          <p:cNvPr id="9" name="nav_item_6"/>
          <p:cNvSpPr txBox="1"/>
          <p:nvPr/>
        </p:nvSpPr>
        <p:spPr>
          <a:xfrm>
            <a:off x="621792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Budget</a:t>
            </a:r>
            <a:endParaRPr lang="en-US" sz="1400" dirty="0"/>
          </a:p>
        </p:txBody>
      </p:sp>
      <p:sp>
        <p:nvSpPr>
          <p:cNvPr id="10" name="nav_item_7"/>
          <p:cNvSpPr txBox="1"/>
          <p:nvPr/>
        </p:nvSpPr>
        <p:spPr>
          <a:xfrm>
            <a:off x="621792" y="3730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1" name="obj_icon_bg_1"/>
          <p:cNvSpPr/>
          <p:nvPr/>
        </p:nvSpPr>
        <p:spPr>
          <a:xfrm>
            <a:off x="2743200" y="13716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obj_icon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9504" y="1517904"/>
            <a:ext cx="274320" cy="274320"/>
          </a:xfrm>
          <a:prstGeom prst="rect">
            <a:avLst/>
          </a:prstGeom>
        </p:spPr>
      </p:pic>
      <p:sp>
        <p:nvSpPr>
          <p:cNvPr id="13" name="obj_head_1"/>
          <p:cNvSpPr txBox="1"/>
          <p:nvPr/>
        </p:nvSpPr>
        <p:spPr>
          <a:xfrm>
            <a:off x="3520440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Single source of truth</a:t>
            </a:r>
            <a:endParaRPr lang="en-US" sz="1600" dirty="0"/>
          </a:p>
        </p:txBody>
      </p:sp>
      <p:sp>
        <p:nvSpPr>
          <p:cNvPr id="14" name="obj_body_1"/>
          <p:cNvSpPr txBox="1"/>
          <p:nvPr/>
        </p:nvSpPr>
        <p:spPr>
          <a:xfrm>
            <a:off x="3520440" y="1627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Replace legacy finance and supply systems with one cloud ERP</a:t>
            </a:r>
            <a:endParaRPr lang="en-US" sz="1400" dirty="0"/>
          </a:p>
        </p:txBody>
      </p:sp>
      <p:sp>
        <p:nvSpPr>
          <p:cNvPr id="15" name="obj_metric_1"/>
          <p:cNvSpPr txBox="1"/>
          <p:nvPr/>
        </p:nvSpPr>
        <p:spPr>
          <a:xfrm>
            <a:off x="694944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7 → 1</a:t>
            </a:r>
            <a:endParaRPr lang="en-US" sz="2800" dirty="0"/>
          </a:p>
        </p:txBody>
      </p:sp>
      <p:sp>
        <p:nvSpPr>
          <p:cNvPr id="16" name="obj_metric_label_1"/>
          <p:cNvSpPr txBox="1"/>
          <p:nvPr/>
        </p:nvSpPr>
        <p:spPr>
          <a:xfrm>
            <a:off x="676656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core systems</a:t>
            </a:r>
            <a:endParaRPr lang="en-US" sz="1100" dirty="0"/>
          </a:p>
        </p:txBody>
      </p:sp>
      <p:sp>
        <p:nvSpPr>
          <p:cNvPr id="17" name="obj_rule_1"/>
          <p:cNvSpPr/>
          <p:nvPr/>
        </p:nvSpPr>
        <p:spPr>
          <a:xfrm>
            <a:off x="2743200" y="2267712"/>
            <a:ext cx="5943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obj_icon_bg_2"/>
          <p:cNvSpPr/>
          <p:nvPr/>
        </p:nvSpPr>
        <p:spPr>
          <a:xfrm>
            <a:off x="2743200" y="24688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obj_icon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2615184"/>
            <a:ext cx="274320" cy="274320"/>
          </a:xfrm>
          <a:prstGeom prst="rect">
            <a:avLst/>
          </a:prstGeom>
        </p:spPr>
      </p:pic>
      <p:sp>
        <p:nvSpPr>
          <p:cNvPr id="20" name="obj_head_2"/>
          <p:cNvSpPr txBox="1"/>
          <p:nvPr/>
        </p:nvSpPr>
        <p:spPr>
          <a:xfrm>
            <a:off x="3520440" y="2395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Faster financial close</a:t>
            </a:r>
            <a:endParaRPr lang="en-US" sz="1600" dirty="0"/>
          </a:p>
        </p:txBody>
      </p:sp>
      <p:sp>
        <p:nvSpPr>
          <p:cNvPr id="21" name="obj_body_2"/>
          <p:cNvSpPr txBox="1"/>
          <p:nvPr/>
        </p:nvSpPr>
        <p:spPr>
          <a:xfrm>
            <a:off x="3520440" y="27249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 reconciliations and management reporting</a:t>
            </a:r>
            <a:endParaRPr lang="en-US" sz="1400" dirty="0"/>
          </a:p>
        </p:txBody>
      </p:sp>
      <p:sp>
        <p:nvSpPr>
          <p:cNvPr id="22" name="obj_metric_2"/>
          <p:cNvSpPr txBox="1"/>
          <p:nvPr/>
        </p:nvSpPr>
        <p:spPr>
          <a:xfrm>
            <a:off x="694944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−40%</a:t>
            </a:r>
            <a:endParaRPr lang="en-US" sz="2800" dirty="0"/>
          </a:p>
        </p:txBody>
      </p:sp>
      <p:sp>
        <p:nvSpPr>
          <p:cNvPr id="23" name="obj_metric_label_2"/>
          <p:cNvSpPr txBox="1"/>
          <p:nvPr/>
        </p:nvSpPr>
        <p:spPr>
          <a:xfrm>
            <a:off x="676656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month-end close time</a:t>
            </a:r>
            <a:endParaRPr lang="en-US" sz="1100" dirty="0"/>
          </a:p>
        </p:txBody>
      </p:sp>
      <p:sp>
        <p:nvSpPr>
          <p:cNvPr id="24" name="obj_rule_2"/>
          <p:cNvSpPr/>
          <p:nvPr/>
        </p:nvSpPr>
        <p:spPr>
          <a:xfrm>
            <a:off x="2743200" y="3364992"/>
            <a:ext cx="5943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obj_icon_bg_3"/>
          <p:cNvSpPr/>
          <p:nvPr/>
        </p:nvSpPr>
        <p:spPr>
          <a:xfrm>
            <a:off x="2743200" y="35661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obj_icon_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3712464"/>
            <a:ext cx="274320" cy="274320"/>
          </a:xfrm>
          <a:prstGeom prst="rect">
            <a:avLst/>
          </a:prstGeom>
        </p:spPr>
      </p:pic>
      <p:sp>
        <p:nvSpPr>
          <p:cNvPr id="27" name="obj_head_3"/>
          <p:cNvSpPr txBox="1"/>
          <p:nvPr/>
        </p:nvSpPr>
        <p:spPr>
          <a:xfrm>
            <a:off x="352044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Lower run cost</a:t>
            </a:r>
            <a:endParaRPr lang="en-US" sz="1600" dirty="0"/>
          </a:p>
        </p:txBody>
      </p:sp>
      <p:sp>
        <p:nvSpPr>
          <p:cNvPr id="28" name="obj_body_3"/>
          <p:cNvSpPr txBox="1"/>
          <p:nvPr/>
        </p:nvSpPr>
        <p:spPr>
          <a:xfrm>
            <a:off x="3520440" y="38221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Retire on-premise infrastructure by 2028</a:t>
            </a:r>
            <a:endParaRPr lang="en-US" sz="1400" dirty="0"/>
          </a:p>
        </p:txBody>
      </p:sp>
      <p:sp>
        <p:nvSpPr>
          <p:cNvPr id="29" name="obj_metric_3"/>
          <p:cNvSpPr txBox="1"/>
          <p:nvPr/>
        </p:nvSpPr>
        <p:spPr>
          <a:xfrm>
            <a:off x="6949440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$3.1M</a:t>
            </a:r>
            <a:endParaRPr lang="en-US" sz="2800" dirty="0"/>
          </a:p>
        </p:txBody>
      </p:sp>
      <p:sp>
        <p:nvSpPr>
          <p:cNvPr id="30" name="obj_metric_label_3"/>
          <p:cNvSpPr txBox="1"/>
          <p:nvPr/>
        </p:nvSpPr>
        <p:spPr>
          <a:xfrm>
            <a:off x="676656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annual savings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2743200" y="3657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is in and out of scope</a:t>
            </a:r>
            <a:endParaRPr lang="en-US" sz="2400" dirty="0"/>
          </a:p>
        </p:txBody>
      </p:sp>
      <p:sp>
        <p:nvSpPr>
          <p:cNvPr id="3" name="nav_item_1"/>
          <p:cNvSpPr txBox="1"/>
          <p:nvPr/>
        </p:nvSpPr>
        <p:spPr>
          <a:xfrm>
            <a:off x="621792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Overview</a:t>
            </a:r>
            <a:endParaRPr lang="en-US" sz="1400" dirty="0"/>
          </a:p>
        </p:txBody>
      </p:sp>
      <p:sp>
        <p:nvSpPr>
          <p:cNvPr id="4" name="nav_marker"/>
          <p:cNvSpPr/>
          <p:nvPr/>
        </p:nvSpPr>
        <p:spPr>
          <a:xfrm>
            <a:off x="365760" y="1655064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av_item_2"/>
          <p:cNvSpPr txBox="1"/>
          <p:nvPr/>
        </p:nvSpPr>
        <p:spPr>
          <a:xfrm>
            <a:off x="621792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Scope</a:t>
            </a:r>
            <a:endParaRPr lang="en-US" sz="1400" dirty="0"/>
          </a:p>
        </p:txBody>
      </p:sp>
      <p:sp>
        <p:nvSpPr>
          <p:cNvPr id="6" name="nav_item_3"/>
          <p:cNvSpPr txBox="1"/>
          <p:nvPr/>
        </p:nvSpPr>
        <p:spPr>
          <a:xfrm>
            <a:off x="621792" y="19751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Timeline</a:t>
            </a:r>
            <a:endParaRPr lang="en-US" sz="1400" dirty="0"/>
          </a:p>
        </p:txBody>
      </p:sp>
      <p:sp>
        <p:nvSpPr>
          <p:cNvPr id="7" name="nav_item_4"/>
          <p:cNvSpPr txBox="1"/>
          <p:nvPr/>
        </p:nvSpPr>
        <p:spPr>
          <a:xfrm>
            <a:off x="621792" y="24140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8" name="nav_item_5"/>
          <p:cNvSpPr txBox="1"/>
          <p:nvPr/>
        </p:nvSpPr>
        <p:spPr>
          <a:xfrm>
            <a:off x="621792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Responsibilities</a:t>
            </a:r>
            <a:endParaRPr lang="en-US" sz="1400" dirty="0"/>
          </a:p>
        </p:txBody>
      </p:sp>
      <p:sp>
        <p:nvSpPr>
          <p:cNvPr id="9" name="nav_item_6"/>
          <p:cNvSpPr txBox="1"/>
          <p:nvPr/>
        </p:nvSpPr>
        <p:spPr>
          <a:xfrm>
            <a:off x="621792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Budget</a:t>
            </a:r>
            <a:endParaRPr lang="en-US" sz="1400" dirty="0"/>
          </a:p>
        </p:txBody>
      </p:sp>
      <p:sp>
        <p:nvSpPr>
          <p:cNvPr id="10" name="nav_item_7"/>
          <p:cNvSpPr txBox="1"/>
          <p:nvPr/>
        </p:nvSpPr>
        <p:spPr>
          <a:xfrm>
            <a:off x="621792" y="3730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1" name="scope_card_1"/>
          <p:cNvSpPr/>
          <p:nvPr/>
        </p:nvSpPr>
        <p:spPr>
          <a:xfrm>
            <a:off x="2743200" y="1234440"/>
            <a:ext cx="288036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cope_head_1"/>
          <p:cNvSpPr txBox="1"/>
          <p:nvPr/>
        </p:nvSpPr>
        <p:spPr>
          <a:xfrm>
            <a:off x="297180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 scope</a:t>
            </a:r>
            <a:endParaRPr lang="en-US" sz="1800" dirty="0"/>
          </a:p>
        </p:txBody>
      </p:sp>
      <p:pic>
        <p:nvPicPr>
          <p:cNvPr id="13" name="scope_icon_1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938528"/>
            <a:ext cx="219456" cy="219456"/>
          </a:xfrm>
          <a:prstGeom prst="rect">
            <a:avLst/>
          </a:prstGeom>
        </p:spPr>
      </p:pic>
      <p:sp>
        <p:nvSpPr>
          <p:cNvPr id="14" name="scope_item_1_1"/>
          <p:cNvSpPr txBox="1"/>
          <p:nvPr/>
        </p:nvSpPr>
        <p:spPr>
          <a:xfrm>
            <a:off x="3291840" y="1874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Finance and accounting</a:t>
            </a:r>
            <a:endParaRPr lang="en-US" sz="1400" dirty="0"/>
          </a:p>
        </p:txBody>
      </p:sp>
      <p:pic>
        <p:nvPicPr>
          <p:cNvPr id="15" name="scope_icon_1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441448"/>
            <a:ext cx="219456" cy="219456"/>
          </a:xfrm>
          <a:prstGeom prst="rect">
            <a:avLst/>
          </a:prstGeom>
        </p:spPr>
      </p:pic>
      <p:sp>
        <p:nvSpPr>
          <p:cNvPr id="16" name="scope_item_1_2"/>
          <p:cNvSpPr txBox="1"/>
          <p:nvPr/>
        </p:nvSpPr>
        <p:spPr>
          <a:xfrm>
            <a:off x="3291840" y="2377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Procurement and inventory</a:t>
            </a:r>
            <a:endParaRPr lang="en-US" sz="1400" dirty="0"/>
          </a:p>
        </p:txBody>
      </p:sp>
      <p:pic>
        <p:nvPicPr>
          <p:cNvPr id="17" name="scope_icon_1_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944368"/>
            <a:ext cx="219456" cy="219456"/>
          </a:xfrm>
          <a:prstGeom prst="rect">
            <a:avLst/>
          </a:prstGeom>
        </p:spPr>
      </p:pic>
      <p:sp>
        <p:nvSpPr>
          <p:cNvPr id="18" name="scope_item_1_3"/>
          <p:cNvSpPr txBox="1"/>
          <p:nvPr/>
        </p:nvSpPr>
        <p:spPr>
          <a:xfrm>
            <a:off x="3291840" y="2880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Order-to-cash</a:t>
            </a:r>
            <a:endParaRPr lang="en-US" sz="1400" dirty="0"/>
          </a:p>
        </p:txBody>
      </p:sp>
      <p:pic>
        <p:nvPicPr>
          <p:cNvPr id="19" name="scope_icon_1_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447288"/>
            <a:ext cx="219456" cy="219456"/>
          </a:xfrm>
          <a:prstGeom prst="rect">
            <a:avLst/>
          </a:prstGeom>
        </p:spPr>
      </p:pic>
      <p:sp>
        <p:nvSpPr>
          <p:cNvPr id="20" name="scope_item_1_4"/>
          <p:cNvSpPr txBox="1"/>
          <p:nvPr/>
        </p:nvSpPr>
        <p:spPr>
          <a:xfrm>
            <a:off x="3291840" y="3383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migration (5 years)</a:t>
            </a:r>
            <a:endParaRPr lang="en-US" sz="1400" dirty="0"/>
          </a:p>
        </p:txBody>
      </p:sp>
      <p:pic>
        <p:nvPicPr>
          <p:cNvPr id="21" name="scope_icon_1_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3950208"/>
            <a:ext cx="219456" cy="219456"/>
          </a:xfrm>
          <a:prstGeom prst="rect">
            <a:avLst/>
          </a:prstGeom>
        </p:spPr>
      </p:pic>
      <p:sp>
        <p:nvSpPr>
          <p:cNvPr id="22" name="scope_item_1_5"/>
          <p:cNvSpPr txBox="1"/>
          <p:nvPr/>
        </p:nvSpPr>
        <p:spPr>
          <a:xfrm>
            <a:off x="3291840" y="3886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Training for 600 users</a:t>
            </a:r>
            <a:endParaRPr lang="en-US" sz="1400" dirty="0"/>
          </a:p>
        </p:txBody>
      </p:sp>
      <p:sp>
        <p:nvSpPr>
          <p:cNvPr id="23" name="scope_card_2"/>
          <p:cNvSpPr/>
          <p:nvPr/>
        </p:nvSpPr>
        <p:spPr>
          <a:xfrm>
            <a:off x="5806440" y="1234440"/>
            <a:ext cx="2880360" cy="3291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cope_head_2"/>
          <p:cNvSpPr txBox="1"/>
          <p:nvPr/>
        </p:nvSpPr>
        <p:spPr>
          <a:xfrm>
            <a:off x="60350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Out of scope</a:t>
            </a:r>
            <a:endParaRPr lang="en-US" sz="1800" dirty="0"/>
          </a:p>
        </p:txBody>
      </p:sp>
      <p:pic>
        <p:nvPicPr>
          <p:cNvPr id="25" name="scope_icon_2_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938528"/>
            <a:ext cx="219456" cy="219456"/>
          </a:xfrm>
          <a:prstGeom prst="rect">
            <a:avLst/>
          </a:prstGeom>
        </p:spPr>
      </p:pic>
      <p:sp>
        <p:nvSpPr>
          <p:cNvPr id="26" name="scope_item_2_1"/>
          <p:cNvSpPr txBox="1"/>
          <p:nvPr/>
        </p:nvSpPr>
        <p:spPr>
          <a:xfrm>
            <a:off x="6355080" y="1874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HR and payroll</a:t>
            </a:r>
            <a:endParaRPr lang="en-US" sz="1400" dirty="0"/>
          </a:p>
        </p:txBody>
      </p:sp>
      <p:pic>
        <p:nvPicPr>
          <p:cNvPr id="27" name="scope_icon_2_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2441448"/>
            <a:ext cx="219456" cy="219456"/>
          </a:xfrm>
          <a:prstGeom prst="rect">
            <a:avLst/>
          </a:prstGeom>
        </p:spPr>
      </p:pic>
      <p:sp>
        <p:nvSpPr>
          <p:cNvPr id="28" name="scope_item_2_2"/>
          <p:cNvSpPr txBox="1"/>
          <p:nvPr/>
        </p:nvSpPr>
        <p:spPr>
          <a:xfrm>
            <a:off x="6355080" y="2377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Manufacturing execution</a:t>
            </a:r>
            <a:endParaRPr lang="en-US" sz="1400" dirty="0"/>
          </a:p>
        </p:txBody>
      </p:sp>
      <p:pic>
        <p:nvPicPr>
          <p:cNvPr id="29" name="scope_icon_2_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2944368"/>
            <a:ext cx="219456" cy="219456"/>
          </a:xfrm>
          <a:prstGeom prst="rect">
            <a:avLst/>
          </a:prstGeom>
        </p:spPr>
      </p:pic>
      <p:sp>
        <p:nvSpPr>
          <p:cNvPr id="30" name="scope_item_2_3"/>
          <p:cNvSpPr txBox="1"/>
          <p:nvPr/>
        </p:nvSpPr>
        <p:spPr>
          <a:xfrm>
            <a:off x="6355080" y="2880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 portal changes</a:t>
            </a:r>
            <a:endParaRPr lang="en-US" sz="1400" dirty="0"/>
          </a:p>
        </p:txBody>
      </p:sp>
      <p:pic>
        <p:nvPicPr>
          <p:cNvPr id="31" name="scope_icon_2_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3447288"/>
            <a:ext cx="219456" cy="219456"/>
          </a:xfrm>
          <a:prstGeom prst="rect">
            <a:avLst/>
          </a:prstGeom>
        </p:spPr>
      </p:pic>
      <p:sp>
        <p:nvSpPr>
          <p:cNvPr id="32" name="scope_item_2_4"/>
          <p:cNvSpPr txBox="1"/>
          <p:nvPr/>
        </p:nvSpPr>
        <p:spPr>
          <a:xfrm>
            <a:off x="6355080" y="3383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Legacy archive clean-up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2743200" y="3657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Delivery timeline, 2027</a:t>
            </a:r>
            <a:endParaRPr lang="en-US" sz="2400" dirty="0"/>
          </a:p>
        </p:txBody>
      </p:sp>
      <p:sp>
        <p:nvSpPr>
          <p:cNvPr id="3" name="nav_item_1"/>
          <p:cNvSpPr txBox="1"/>
          <p:nvPr/>
        </p:nvSpPr>
        <p:spPr>
          <a:xfrm>
            <a:off x="621792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Overview</a:t>
            </a:r>
            <a:endParaRPr lang="en-US" sz="1400" dirty="0"/>
          </a:p>
        </p:txBody>
      </p:sp>
      <p:sp>
        <p:nvSpPr>
          <p:cNvPr id="4" name="nav_item_2"/>
          <p:cNvSpPr txBox="1"/>
          <p:nvPr/>
        </p:nvSpPr>
        <p:spPr>
          <a:xfrm>
            <a:off x="621792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Scope</a:t>
            </a:r>
            <a:endParaRPr lang="en-US" sz="1400" dirty="0"/>
          </a:p>
        </p:txBody>
      </p:sp>
      <p:sp>
        <p:nvSpPr>
          <p:cNvPr id="5" name="nav_marker"/>
          <p:cNvSpPr/>
          <p:nvPr/>
        </p:nvSpPr>
        <p:spPr>
          <a:xfrm>
            <a:off x="365760" y="2093976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av_item_3"/>
          <p:cNvSpPr txBox="1"/>
          <p:nvPr/>
        </p:nvSpPr>
        <p:spPr>
          <a:xfrm>
            <a:off x="621792" y="19751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Timeline</a:t>
            </a:r>
            <a:endParaRPr lang="en-US" sz="1400" dirty="0"/>
          </a:p>
        </p:txBody>
      </p:sp>
      <p:sp>
        <p:nvSpPr>
          <p:cNvPr id="7" name="nav_item_4"/>
          <p:cNvSpPr txBox="1"/>
          <p:nvPr/>
        </p:nvSpPr>
        <p:spPr>
          <a:xfrm>
            <a:off x="621792" y="24140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8" name="nav_item_5"/>
          <p:cNvSpPr txBox="1"/>
          <p:nvPr/>
        </p:nvSpPr>
        <p:spPr>
          <a:xfrm>
            <a:off x="621792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Responsibilities</a:t>
            </a:r>
            <a:endParaRPr lang="en-US" sz="1400" dirty="0"/>
          </a:p>
        </p:txBody>
      </p:sp>
      <p:sp>
        <p:nvSpPr>
          <p:cNvPr id="9" name="nav_item_6"/>
          <p:cNvSpPr txBox="1"/>
          <p:nvPr/>
        </p:nvSpPr>
        <p:spPr>
          <a:xfrm>
            <a:off x="621792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Budget</a:t>
            </a:r>
            <a:endParaRPr lang="en-US" sz="1400" dirty="0"/>
          </a:p>
        </p:txBody>
      </p:sp>
      <p:sp>
        <p:nvSpPr>
          <p:cNvPr id="10" name="nav_item_7"/>
          <p:cNvSpPr txBox="1"/>
          <p:nvPr/>
        </p:nvSpPr>
        <p:spPr>
          <a:xfrm>
            <a:off x="621792" y="3730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1" name="gantt_month_1"/>
          <p:cNvSpPr txBox="1"/>
          <p:nvPr/>
        </p:nvSpPr>
        <p:spPr>
          <a:xfrm>
            <a:off x="4297680" y="1234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Jan</a:t>
            </a:r>
            <a:endParaRPr lang="en-US" sz="1000" dirty="0"/>
          </a:p>
        </p:txBody>
      </p:sp>
      <p:sp>
        <p:nvSpPr>
          <p:cNvPr id="12" name="gantt_grid_1"/>
          <p:cNvSpPr/>
          <p:nvPr/>
        </p:nvSpPr>
        <p:spPr>
          <a:xfrm>
            <a:off x="4297680" y="1554480"/>
            <a:ext cx="0" cy="27432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gantt_month_2"/>
          <p:cNvSpPr txBox="1"/>
          <p:nvPr/>
        </p:nvSpPr>
        <p:spPr>
          <a:xfrm>
            <a:off x="4663440" y="1234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Feb</a:t>
            </a:r>
            <a:endParaRPr lang="en-US" sz="1000" dirty="0"/>
          </a:p>
        </p:txBody>
      </p:sp>
      <p:sp>
        <p:nvSpPr>
          <p:cNvPr id="14" name="gantt_grid_2"/>
          <p:cNvSpPr/>
          <p:nvPr/>
        </p:nvSpPr>
        <p:spPr>
          <a:xfrm>
            <a:off x="4663440" y="1554480"/>
            <a:ext cx="0" cy="27432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gantt_month_3"/>
          <p:cNvSpPr txBox="1"/>
          <p:nvPr/>
        </p:nvSpPr>
        <p:spPr>
          <a:xfrm>
            <a:off x="5029200" y="1234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Mar</a:t>
            </a:r>
            <a:endParaRPr lang="en-US" sz="1000" dirty="0"/>
          </a:p>
        </p:txBody>
      </p:sp>
      <p:sp>
        <p:nvSpPr>
          <p:cNvPr id="16" name="gantt_grid_3"/>
          <p:cNvSpPr/>
          <p:nvPr/>
        </p:nvSpPr>
        <p:spPr>
          <a:xfrm>
            <a:off x="5029200" y="1554480"/>
            <a:ext cx="0" cy="27432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gantt_month_4"/>
          <p:cNvSpPr txBox="1"/>
          <p:nvPr/>
        </p:nvSpPr>
        <p:spPr>
          <a:xfrm>
            <a:off x="5394960" y="1234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Apr</a:t>
            </a:r>
            <a:endParaRPr lang="en-US" sz="1000" dirty="0"/>
          </a:p>
        </p:txBody>
      </p:sp>
      <p:sp>
        <p:nvSpPr>
          <p:cNvPr id="18" name="gantt_grid_4"/>
          <p:cNvSpPr/>
          <p:nvPr/>
        </p:nvSpPr>
        <p:spPr>
          <a:xfrm>
            <a:off x="5394960" y="1554480"/>
            <a:ext cx="0" cy="27432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gantt_month_5"/>
          <p:cNvSpPr txBox="1"/>
          <p:nvPr/>
        </p:nvSpPr>
        <p:spPr>
          <a:xfrm>
            <a:off x="5760720" y="1234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May</a:t>
            </a:r>
            <a:endParaRPr lang="en-US" sz="1000" dirty="0"/>
          </a:p>
        </p:txBody>
      </p:sp>
      <p:sp>
        <p:nvSpPr>
          <p:cNvPr id="20" name="gantt_grid_5"/>
          <p:cNvSpPr/>
          <p:nvPr/>
        </p:nvSpPr>
        <p:spPr>
          <a:xfrm>
            <a:off x="5760720" y="1554480"/>
            <a:ext cx="0" cy="27432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gantt_month_6"/>
          <p:cNvSpPr txBox="1"/>
          <p:nvPr/>
        </p:nvSpPr>
        <p:spPr>
          <a:xfrm>
            <a:off x="6126480" y="1234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Jun</a:t>
            </a:r>
            <a:endParaRPr lang="en-US" sz="1000" dirty="0"/>
          </a:p>
        </p:txBody>
      </p:sp>
      <p:sp>
        <p:nvSpPr>
          <p:cNvPr id="22" name="gantt_grid_6"/>
          <p:cNvSpPr/>
          <p:nvPr/>
        </p:nvSpPr>
        <p:spPr>
          <a:xfrm>
            <a:off x="6126480" y="1554480"/>
            <a:ext cx="0" cy="27432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gantt_month_7"/>
          <p:cNvSpPr txBox="1"/>
          <p:nvPr/>
        </p:nvSpPr>
        <p:spPr>
          <a:xfrm>
            <a:off x="6492240" y="1234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Jul</a:t>
            </a:r>
            <a:endParaRPr lang="en-US" sz="1000" dirty="0"/>
          </a:p>
        </p:txBody>
      </p:sp>
      <p:sp>
        <p:nvSpPr>
          <p:cNvPr id="24" name="gantt_grid_7"/>
          <p:cNvSpPr/>
          <p:nvPr/>
        </p:nvSpPr>
        <p:spPr>
          <a:xfrm>
            <a:off x="6492240" y="1554480"/>
            <a:ext cx="0" cy="27432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gantt_month_8"/>
          <p:cNvSpPr txBox="1"/>
          <p:nvPr/>
        </p:nvSpPr>
        <p:spPr>
          <a:xfrm>
            <a:off x="6858000" y="1234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Aug</a:t>
            </a:r>
            <a:endParaRPr lang="en-US" sz="1000" dirty="0"/>
          </a:p>
        </p:txBody>
      </p:sp>
      <p:sp>
        <p:nvSpPr>
          <p:cNvPr id="26" name="gantt_grid_8"/>
          <p:cNvSpPr/>
          <p:nvPr/>
        </p:nvSpPr>
        <p:spPr>
          <a:xfrm>
            <a:off x="6858000" y="1554480"/>
            <a:ext cx="0" cy="27432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gantt_month_9"/>
          <p:cNvSpPr txBox="1"/>
          <p:nvPr/>
        </p:nvSpPr>
        <p:spPr>
          <a:xfrm>
            <a:off x="7223760" y="1234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Sep</a:t>
            </a:r>
            <a:endParaRPr lang="en-US" sz="1000" dirty="0"/>
          </a:p>
        </p:txBody>
      </p:sp>
      <p:sp>
        <p:nvSpPr>
          <p:cNvPr id="28" name="gantt_grid_9"/>
          <p:cNvSpPr/>
          <p:nvPr/>
        </p:nvSpPr>
        <p:spPr>
          <a:xfrm>
            <a:off x="7223760" y="1554480"/>
            <a:ext cx="0" cy="27432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gantt_month_10"/>
          <p:cNvSpPr txBox="1"/>
          <p:nvPr/>
        </p:nvSpPr>
        <p:spPr>
          <a:xfrm>
            <a:off x="7589520" y="1234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Oct</a:t>
            </a:r>
            <a:endParaRPr lang="en-US" sz="1000" dirty="0"/>
          </a:p>
        </p:txBody>
      </p:sp>
      <p:sp>
        <p:nvSpPr>
          <p:cNvPr id="30" name="gantt_grid_10"/>
          <p:cNvSpPr/>
          <p:nvPr/>
        </p:nvSpPr>
        <p:spPr>
          <a:xfrm>
            <a:off x="7589520" y="1554480"/>
            <a:ext cx="0" cy="27432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gantt_month_11"/>
          <p:cNvSpPr txBox="1"/>
          <p:nvPr/>
        </p:nvSpPr>
        <p:spPr>
          <a:xfrm>
            <a:off x="7955280" y="1234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Nov</a:t>
            </a:r>
            <a:endParaRPr lang="en-US" sz="1000" dirty="0"/>
          </a:p>
        </p:txBody>
      </p:sp>
      <p:sp>
        <p:nvSpPr>
          <p:cNvPr id="32" name="gantt_grid_11"/>
          <p:cNvSpPr/>
          <p:nvPr/>
        </p:nvSpPr>
        <p:spPr>
          <a:xfrm>
            <a:off x="7955280" y="1554480"/>
            <a:ext cx="0" cy="27432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gantt_month_12"/>
          <p:cNvSpPr txBox="1"/>
          <p:nvPr/>
        </p:nvSpPr>
        <p:spPr>
          <a:xfrm>
            <a:off x="8321040" y="1234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Dec</a:t>
            </a:r>
            <a:endParaRPr lang="en-US" sz="1000" dirty="0"/>
          </a:p>
        </p:txBody>
      </p:sp>
      <p:sp>
        <p:nvSpPr>
          <p:cNvPr id="34" name="gantt_grid_12"/>
          <p:cNvSpPr/>
          <p:nvPr/>
        </p:nvSpPr>
        <p:spPr>
          <a:xfrm>
            <a:off x="8321040" y="1554480"/>
            <a:ext cx="0" cy="27432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gantt_label_1"/>
          <p:cNvSpPr txBox="1"/>
          <p:nvPr/>
        </p:nvSpPr>
        <p:spPr>
          <a:xfrm>
            <a:off x="274320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Discover</a:t>
            </a:r>
            <a:endParaRPr lang="en-US" sz="1400" dirty="0"/>
          </a:p>
        </p:txBody>
      </p:sp>
      <p:sp>
        <p:nvSpPr>
          <p:cNvPr id="36" name="gantt_bar_1"/>
          <p:cNvSpPr/>
          <p:nvPr/>
        </p:nvSpPr>
        <p:spPr>
          <a:xfrm>
            <a:off x="4297680" y="1691640"/>
            <a:ext cx="731520" cy="2286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37" name="gantt_label_2"/>
          <p:cNvSpPr txBox="1"/>
          <p:nvPr/>
        </p:nvSpPr>
        <p:spPr>
          <a:xfrm>
            <a:off x="274320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Design</a:t>
            </a:r>
            <a:endParaRPr lang="en-US" sz="1400" dirty="0"/>
          </a:p>
        </p:txBody>
      </p:sp>
      <p:sp>
        <p:nvSpPr>
          <p:cNvPr id="38" name="gantt_bar_2"/>
          <p:cNvSpPr/>
          <p:nvPr/>
        </p:nvSpPr>
        <p:spPr>
          <a:xfrm>
            <a:off x="4663440" y="2103120"/>
            <a:ext cx="1097280" cy="2286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/>
        </p:spPr>
      </p:sp>
      <p:sp>
        <p:nvSpPr>
          <p:cNvPr id="39" name="gantt_label_3"/>
          <p:cNvSpPr txBox="1"/>
          <p:nvPr/>
        </p:nvSpPr>
        <p:spPr>
          <a:xfrm>
            <a:off x="274320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</a:t>
            </a:r>
            <a:endParaRPr lang="en-US" sz="1400" dirty="0"/>
          </a:p>
        </p:txBody>
      </p:sp>
      <p:sp>
        <p:nvSpPr>
          <p:cNvPr id="40" name="gantt_bar_3"/>
          <p:cNvSpPr/>
          <p:nvPr/>
        </p:nvSpPr>
        <p:spPr>
          <a:xfrm>
            <a:off x="5394960" y="2514600"/>
            <a:ext cx="1828800" cy="2286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41" name="gantt_label_4"/>
          <p:cNvSpPr txBox="1"/>
          <p:nvPr/>
        </p:nvSpPr>
        <p:spPr>
          <a:xfrm>
            <a:off x="274320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</a:t>
            </a:r>
            <a:endParaRPr lang="en-US" sz="1400" dirty="0"/>
          </a:p>
        </p:txBody>
      </p:sp>
      <p:sp>
        <p:nvSpPr>
          <p:cNvPr id="42" name="gantt_bar_4"/>
          <p:cNvSpPr/>
          <p:nvPr/>
        </p:nvSpPr>
        <p:spPr>
          <a:xfrm>
            <a:off x="6492240" y="2926080"/>
            <a:ext cx="1097280" cy="2286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/>
        </p:spPr>
      </p:sp>
      <p:sp>
        <p:nvSpPr>
          <p:cNvPr id="43" name="gantt_label_5"/>
          <p:cNvSpPr txBox="1"/>
          <p:nvPr/>
        </p:nvSpPr>
        <p:spPr>
          <a:xfrm>
            <a:off x="274320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Deploy</a:t>
            </a:r>
            <a:endParaRPr lang="en-US" sz="1400" dirty="0"/>
          </a:p>
        </p:txBody>
      </p:sp>
      <p:sp>
        <p:nvSpPr>
          <p:cNvPr id="44" name="gantt_bar_5"/>
          <p:cNvSpPr/>
          <p:nvPr/>
        </p:nvSpPr>
        <p:spPr>
          <a:xfrm>
            <a:off x="7223760" y="3337560"/>
            <a:ext cx="731520" cy="2286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sp>
        <p:nvSpPr>
          <p:cNvPr id="45" name="gantt_label_6"/>
          <p:cNvSpPr txBox="1"/>
          <p:nvPr/>
        </p:nvSpPr>
        <p:spPr>
          <a:xfrm>
            <a:off x="274320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Hypercare</a:t>
            </a:r>
            <a:endParaRPr lang="en-US" sz="1400" dirty="0"/>
          </a:p>
        </p:txBody>
      </p:sp>
      <p:sp>
        <p:nvSpPr>
          <p:cNvPr id="46" name="gantt_bar_6"/>
          <p:cNvSpPr/>
          <p:nvPr/>
        </p:nvSpPr>
        <p:spPr>
          <a:xfrm>
            <a:off x="7772400" y="3749040"/>
            <a:ext cx="914400" cy="2286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/>
        </p:spPr>
      </p:sp>
      <p:sp>
        <p:nvSpPr>
          <p:cNvPr id="47" name="milestone_1"/>
          <p:cNvSpPr/>
          <p:nvPr/>
        </p:nvSpPr>
        <p:spPr>
          <a:xfrm>
            <a:off x="5641848" y="4206240"/>
            <a:ext cx="237744" cy="237744"/>
          </a:xfrm>
          <a:prstGeom prst="diamond">
            <a:avLst/>
          </a:prstGeom>
          <a:solidFill>
            <a:schemeClr val="accent3"/>
          </a:solidFill>
          <a:ln/>
        </p:spPr>
      </p:sp>
      <p:sp>
        <p:nvSpPr>
          <p:cNvPr id="48" name="milestone_label_1"/>
          <p:cNvSpPr txBox="1"/>
          <p:nvPr/>
        </p:nvSpPr>
        <p:spPr>
          <a:xfrm>
            <a:off x="5925312" y="4187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Design sign-off</a:t>
            </a:r>
            <a:endParaRPr lang="en-US" sz="1100" dirty="0"/>
          </a:p>
        </p:txBody>
      </p:sp>
      <p:sp>
        <p:nvSpPr>
          <p:cNvPr id="49" name="milestone_2"/>
          <p:cNvSpPr/>
          <p:nvPr/>
        </p:nvSpPr>
        <p:spPr>
          <a:xfrm>
            <a:off x="7470648" y="4206240"/>
            <a:ext cx="237744" cy="237744"/>
          </a:xfrm>
          <a:prstGeom prst="diamond">
            <a:avLst/>
          </a:prstGeom>
          <a:solidFill>
            <a:schemeClr val="accent3"/>
          </a:solidFill>
          <a:ln/>
        </p:spPr>
      </p:sp>
      <p:sp>
        <p:nvSpPr>
          <p:cNvPr id="50" name="milestone_label_2"/>
          <p:cNvSpPr txBox="1"/>
          <p:nvPr/>
        </p:nvSpPr>
        <p:spPr>
          <a:xfrm>
            <a:off x="7754112" y="4187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Go-live</a:t>
            </a:r>
            <a:endParaRPr lang="en-US" sz="1100" dirty="0"/>
          </a:p>
        </p:txBody>
      </p:sp>
      <p:sp>
        <p:nvSpPr>
          <p:cNvPr id="51" name="milestone_row_label"/>
          <p:cNvSpPr txBox="1"/>
          <p:nvPr/>
        </p:nvSpPr>
        <p:spPr>
          <a:xfrm>
            <a:off x="2743200" y="41696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Milestones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2743200" y="3657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Governance and team structure</a:t>
            </a:r>
            <a:endParaRPr lang="en-US" sz="2400" dirty="0"/>
          </a:p>
        </p:txBody>
      </p:sp>
      <p:sp>
        <p:nvSpPr>
          <p:cNvPr id="3" name="nav_item_1"/>
          <p:cNvSpPr txBox="1"/>
          <p:nvPr/>
        </p:nvSpPr>
        <p:spPr>
          <a:xfrm>
            <a:off x="621792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Overview</a:t>
            </a:r>
            <a:endParaRPr lang="en-US" sz="1400" dirty="0"/>
          </a:p>
        </p:txBody>
      </p:sp>
      <p:sp>
        <p:nvSpPr>
          <p:cNvPr id="4" name="nav_item_2"/>
          <p:cNvSpPr txBox="1"/>
          <p:nvPr/>
        </p:nvSpPr>
        <p:spPr>
          <a:xfrm>
            <a:off x="621792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Scope</a:t>
            </a:r>
            <a:endParaRPr lang="en-US" sz="1400" dirty="0"/>
          </a:p>
        </p:txBody>
      </p:sp>
      <p:sp>
        <p:nvSpPr>
          <p:cNvPr id="5" name="nav_item_3"/>
          <p:cNvSpPr txBox="1"/>
          <p:nvPr/>
        </p:nvSpPr>
        <p:spPr>
          <a:xfrm>
            <a:off x="621792" y="19751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Timeline</a:t>
            </a:r>
            <a:endParaRPr lang="en-US" sz="1400" dirty="0"/>
          </a:p>
        </p:txBody>
      </p:sp>
      <p:sp>
        <p:nvSpPr>
          <p:cNvPr id="6" name="nav_marker"/>
          <p:cNvSpPr/>
          <p:nvPr/>
        </p:nvSpPr>
        <p:spPr>
          <a:xfrm>
            <a:off x="365760" y="253288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av_item_4"/>
          <p:cNvSpPr txBox="1"/>
          <p:nvPr/>
        </p:nvSpPr>
        <p:spPr>
          <a:xfrm>
            <a:off x="621792" y="24140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8" name="nav_item_5"/>
          <p:cNvSpPr txBox="1"/>
          <p:nvPr/>
        </p:nvSpPr>
        <p:spPr>
          <a:xfrm>
            <a:off x="621792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Responsibilities</a:t>
            </a:r>
            <a:endParaRPr lang="en-US" sz="1400" dirty="0"/>
          </a:p>
        </p:txBody>
      </p:sp>
      <p:sp>
        <p:nvSpPr>
          <p:cNvPr id="9" name="nav_item_6"/>
          <p:cNvSpPr txBox="1"/>
          <p:nvPr/>
        </p:nvSpPr>
        <p:spPr>
          <a:xfrm>
            <a:off x="621792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Budget</a:t>
            </a:r>
            <a:endParaRPr lang="en-US" sz="1400" dirty="0"/>
          </a:p>
        </p:txBody>
      </p:sp>
      <p:sp>
        <p:nvSpPr>
          <p:cNvPr id="10" name="nav_item_7"/>
          <p:cNvSpPr txBox="1"/>
          <p:nvPr/>
        </p:nvSpPr>
        <p:spPr>
          <a:xfrm>
            <a:off x="621792" y="3730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1" name="org_steerco_box"/>
          <p:cNvSpPr/>
          <p:nvPr/>
        </p:nvSpPr>
        <p:spPr>
          <a:xfrm>
            <a:off x="4572000" y="1234440"/>
            <a:ext cx="2286000" cy="640080"/>
          </a:xfrm>
          <a:prstGeom prst="rect">
            <a:avLst/>
          </a:prstGeom>
          <a:solidFill>
            <a:schemeClr val="tx2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org_steerco_text"/>
          <p:cNvSpPr txBox="1"/>
          <p:nvPr/>
        </p:nvSpPr>
        <p:spPr>
          <a:xfrm>
            <a:off x="4572000" y="1234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Steering Committee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Monthly  ·  CFO chair</a:t>
            </a:r>
            <a:endParaRPr lang="en-US" sz="1400" dirty="0"/>
          </a:p>
        </p:txBody>
      </p:sp>
      <p:sp>
        <p:nvSpPr>
          <p:cNvPr id="13" name="org_line_1"/>
          <p:cNvSpPr/>
          <p:nvPr/>
        </p:nvSpPr>
        <p:spPr>
          <a:xfrm>
            <a:off x="5715000" y="1874520"/>
            <a:ext cx="0" cy="320040"/>
          </a:xfrm>
          <a:prstGeom prst="line">
            <a:avLst/>
          </a:prstGeom>
          <a:noFill/>
          <a:ln w="15875">
            <a:solidFill>
              <a:srgbClr val="7C8B99"/>
            </a:solidFill>
            <a:prstDash val="solid"/>
          </a:ln>
        </p:spPr>
      </p:sp>
      <p:sp>
        <p:nvSpPr>
          <p:cNvPr id="14" name="org_director_box"/>
          <p:cNvSpPr/>
          <p:nvPr/>
        </p:nvSpPr>
        <p:spPr>
          <a:xfrm>
            <a:off x="4572000" y="2194560"/>
            <a:ext cx="2286000" cy="640080"/>
          </a:xfrm>
          <a:prstGeom prst="rect">
            <a:avLst/>
          </a:prstGeom>
          <a:solidFill>
            <a:schemeClr val="bg1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org_director_text"/>
          <p:cNvSpPr txBox="1"/>
          <p:nvPr/>
        </p:nvSpPr>
        <p:spPr>
          <a:xfrm>
            <a:off x="457200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Programme Director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A. Mehta</a:t>
            </a:r>
            <a:endParaRPr lang="en-US" sz="1400" dirty="0"/>
          </a:p>
        </p:txBody>
      </p:sp>
      <p:sp>
        <p:nvSpPr>
          <p:cNvPr id="16" name="org_line_pmo"/>
          <p:cNvSpPr/>
          <p:nvPr/>
        </p:nvSpPr>
        <p:spPr>
          <a:xfrm>
            <a:off x="6858000" y="2514600"/>
            <a:ext cx="457200" cy="0"/>
          </a:xfrm>
          <a:prstGeom prst="line">
            <a:avLst/>
          </a:prstGeom>
          <a:noFill/>
          <a:ln w="15875">
            <a:solidFill>
              <a:srgbClr val="7C8B99"/>
            </a:solidFill>
            <a:prstDash val="solid"/>
          </a:ln>
        </p:spPr>
      </p:sp>
      <p:sp>
        <p:nvSpPr>
          <p:cNvPr id="17" name="org_pmo_box"/>
          <p:cNvSpPr/>
          <p:nvPr/>
        </p:nvSpPr>
        <p:spPr>
          <a:xfrm>
            <a:off x="7315200" y="22402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0F4C5C"/>
            </a:solidFill>
            <a:prstDash val="dash"/>
          </a:ln>
        </p:spPr>
      </p:sp>
      <p:sp>
        <p:nvSpPr>
          <p:cNvPr id="18" name="org_pmo_text"/>
          <p:cNvSpPr txBox="1"/>
          <p:nvPr/>
        </p:nvSpPr>
        <p:spPr>
          <a:xfrm>
            <a:off x="7315200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PMO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Weekly reporting</a:t>
            </a:r>
            <a:endParaRPr lang="en-US" sz="1400" dirty="0"/>
          </a:p>
        </p:txBody>
      </p:sp>
      <p:sp>
        <p:nvSpPr>
          <p:cNvPr id="19" name="org_line_2"/>
          <p:cNvSpPr/>
          <p:nvPr/>
        </p:nvSpPr>
        <p:spPr>
          <a:xfrm>
            <a:off x="5715000" y="2834640"/>
            <a:ext cx="0" cy="274320"/>
          </a:xfrm>
          <a:prstGeom prst="line">
            <a:avLst/>
          </a:prstGeom>
          <a:noFill/>
          <a:ln w="15875">
            <a:solidFill>
              <a:srgbClr val="7C8B99"/>
            </a:solidFill>
            <a:prstDash val="solid"/>
          </a:ln>
        </p:spPr>
      </p:sp>
      <p:sp>
        <p:nvSpPr>
          <p:cNvPr id="20" name="org_line_3"/>
          <p:cNvSpPr/>
          <p:nvPr/>
        </p:nvSpPr>
        <p:spPr>
          <a:xfrm>
            <a:off x="3749040" y="3108960"/>
            <a:ext cx="3931920" cy="0"/>
          </a:xfrm>
          <a:prstGeom prst="line">
            <a:avLst/>
          </a:prstGeom>
          <a:noFill/>
          <a:ln w="15875">
            <a:solidFill>
              <a:srgbClr val="7C8B99"/>
            </a:solidFill>
            <a:prstDash val="solid"/>
          </a:ln>
        </p:spPr>
      </p:sp>
      <p:sp>
        <p:nvSpPr>
          <p:cNvPr id="21" name="org_drop_1"/>
          <p:cNvSpPr/>
          <p:nvPr/>
        </p:nvSpPr>
        <p:spPr>
          <a:xfrm>
            <a:off x="3749040" y="3108960"/>
            <a:ext cx="0" cy="274320"/>
          </a:xfrm>
          <a:prstGeom prst="line">
            <a:avLst/>
          </a:prstGeom>
          <a:noFill/>
          <a:ln w="15875">
            <a:solidFill>
              <a:srgbClr val="7C8B99"/>
            </a:solidFill>
            <a:prstDash val="solid"/>
          </a:ln>
        </p:spPr>
      </p:sp>
      <p:sp>
        <p:nvSpPr>
          <p:cNvPr id="22" name="org_ws_1_box"/>
          <p:cNvSpPr/>
          <p:nvPr/>
        </p:nvSpPr>
        <p:spPr>
          <a:xfrm>
            <a:off x="2880360" y="3383280"/>
            <a:ext cx="173736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org_ws_1_text"/>
          <p:cNvSpPr txBox="1"/>
          <p:nvPr/>
        </p:nvSpPr>
        <p:spPr>
          <a:xfrm>
            <a:off x="2880360" y="3383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Finance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R. Iyer  ·  4 FTE</a:t>
            </a:r>
            <a:endParaRPr lang="en-US" sz="1400" dirty="0"/>
          </a:p>
        </p:txBody>
      </p:sp>
      <p:sp>
        <p:nvSpPr>
          <p:cNvPr id="24" name="org_drop_2"/>
          <p:cNvSpPr/>
          <p:nvPr/>
        </p:nvSpPr>
        <p:spPr>
          <a:xfrm>
            <a:off x="5715000" y="3108960"/>
            <a:ext cx="0" cy="274320"/>
          </a:xfrm>
          <a:prstGeom prst="line">
            <a:avLst/>
          </a:prstGeom>
          <a:noFill/>
          <a:ln w="15875">
            <a:solidFill>
              <a:srgbClr val="7C8B99"/>
            </a:solidFill>
            <a:prstDash val="solid"/>
          </a:ln>
        </p:spPr>
      </p:sp>
      <p:sp>
        <p:nvSpPr>
          <p:cNvPr id="25" name="org_ws_2_box"/>
          <p:cNvSpPr/>
          <p:nvPr/>
        </p:nvSpPr>
        <p:spPr>
          <a:xfrm>
            <a:off x="4846320" y="3383280"/>
            <a:ext cx="173736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org_ws_2_text"/>
          <p:cNvSpPr txBox="1"/>
          <p:nvPr/>
        </p:nvSpPr>
        <p:spPr>
          <a:xfrm>
            <a:off x="4846320" y="3383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Supply chain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J. Costa  ·  4 FTE</a:t>
            </a:r>
            <a:endParaRPr lang="en-US" sz="1400" dirty="0"/>
          </a:p>
        </p:txBody>
      </p:sp>
      <p:sp>
        <p:nvSpPr>
          <p:cNvPr id="27" name="org_drop_3"/>
          <p:cNvSpPr/>
          <p:nvPr/>
        </p:nvSpPr>
        <p:spPr>
          <a:xfrm>
            <a:off x="7680960" y="3108960"/>
            <a:ext cx="0" cy="274320"/>
          </a:xfrm>
          <a:prstGeom prst="line">
            <a:avLst/>
          </a:prstGeom>
          <a:noFill/>
          <a:ln w="15875">
            <a:solidFill>
              <a:srgbClr val="7C8B99"/>
            </a:solidFill>
            <a:prstDash val="solid"/>
          </a:ln>
        </p:spPr>
      </p:sp>
      <p:sp>
        <p:nvSpPr>
          <p:cNvPr id="28" name="org_ws_3_box"/>
          <p:cNvSpPr/>
          <p:nvPr/>
        </p:nvSpPr>
        <p:spPr>
          <a:xfrm>
            <a:off x="6812280" y="3383280"/>
            <a:ext cx="173736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org_ws_3_text"/>
          <p:cNvSpPr txBox="1"/>
          <p:nvPr/>
        </p:nvSpPr>
        <p:spPr>
          <a:xfrm>
            <a:off x="6812280" y="3383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Technology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L. Chen  ·  4 FTE</a:t>
            </a:r>
            <a:endParaRPr lang="en-US" sz="1400" dirty="0"/>
          </a:p>
        </p:txBody>
      </p:sp>
      <p:sp>
        <p:nvSpPr>
          <p:cNvPr id="30" name="org_note"/>
          <p:cNvSpPr txBox="1"/>
          <p:nvPr/>
        </p:nvSpPr>
        <p:spPr>
          <a:xfrm>
            <a:off x="2743200" y="4160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Workstream leads report weekly to the Programme Director; escalations go to the Steering Committee within 5 days.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2743200" y="3657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Roles and responsibilities (RACI)</a:t>
            </a:r>
            <a:endParaRPr lang="en-US" sz="2400" dirty="0"/>
          </a:p>
        </p:txBody>
      </p:sp>
      <p:sp>
        <p:nvSpPr>
          <p:cNvPr id="3" name="nav_item_1"/>
          <p:cNvSpPr txBox="1"/>
          <p:nvPr/>
        </p:nvSpPr>
        <p:spPr>
          <a:xfrm>
            <a:off x="621792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Overview</a:t>
            </a:r>
            <a:endParaRPr lang="en-US" sz="1400" dirty="0"/>
          </a:p>
        </p:txBody>
      </p:sp>
      <p:sp>
        <p:nvSpPr>
          <p:cNvPr id="4" name="nav_item_2"/>
          <p:cNvSpPr txBox="1"/>
          <p:nvPr/>
        </p:nvSpPr>
        <p:spPr>
          <a:xfrm>
            <a:off x="621792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Scope</a:t>
            </a:r>
            <a:endParaRPr lang="en-US" sz="1400" dirty="0"/>
          </a:p>
        </p:txBody>
      </p:sp>
      <p:sp>
        <p:nvSpPr>
          <p:cNvPr id="5" name="nav_item_3"/>
          <p:cNvSpPr txBox="1"/>
          <p:nvPr/>
        </p:nvSpPr>
        <p:spPr>
          <a:xfrm>
            <a:off x="621792" y="19751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Timeline</a:t>
            </a:r>
            <a:endParaRPr lang="en-US" sz="1400" dirty="0"/>
          </a:p>
        </p:txBody>
      </p:sp>
      <p:sp>
        <p:nvSpPr>
          <p:cNvPr id="6" name="nav_item_4"/>
          <p:cNvSpPr txBox="1"/>
          <p:nvPr/>
        </p:nvSpPr>
        <p:spPr>
          <a:xfrm>
            <a:off x="621792" y="24140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7" name="nav_marker"/>
          <p:cNvSpPr/>
          <p:nvPr/>
        </p:nvSpPr>
        <p:spPr>
          <a:xfrm>
            <a:off x="365760" y="29718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nav_item_5"/>
          <p:cNvSpPr txBox="1"/>
          <p:nvPr/>
        </p:nvSpPr>
        <p:spPr>
          <a:xfrm>
            <a:off x="621792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Responsibilities</a:t>
            </a:r>
            <a:endParaRPr lang="en-US" sz="1400" dirty="0"/>
          </a:p>
        </p:txBody>
      </p:sp>
      <p:sp>
        <p:nvSpPr>
          <p:cNvPr id="9" name="nav_item_6"/>
          <p:cNvSpPr txBox="1"/>
          <p:nvPr/>
        </p:nvSpPr>
        <p:spPr>
          <a:xfrm>
            <a:off x="621792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Budget</a:t>
            </a:r>
            <a:endParaRPr lang="en-US" sz="1400" dirty="0"/>
          </a:p>
        </p:txBody>
      </p:sp>
      <p:sp>
        <p:nvSpPr>
          <p:cNvPr id="10" name="nav_item_7"/>
          <p:cNvSpPr txBox="1"/>
          <p:nvPr/>
        </p:nvSpPr>
        <p:spPr>
          <a:xfrm>
            <a:off x="621792" y="3730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Next steps</a:t>
            </a:r>
            <a:endParaRPr lang="en-US" sz="1400" dirty="0"/>
          </a:p>
        </p:txBody>
      </p:sp>
      <p:graphicFrame>
        <p:nvGraphicFramePr>
          <p:cNvPr id="7" name="raci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0" y="1234440"/>
          <a:ext cx="5943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822960"/>
                <a:gridCol w="822960"/>
                <a:gridCol w="822960"/>
                <a:gridCol w="82296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budget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requirements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41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41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testing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 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6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</a:tr>
            </a:tbl>
          </a:graphicData>
        </a:graphic>
      </p:graphicFrame>
      <p:sp>
        <p:nvSpPr>
          <p:cNvPr id="12" name="raci_key_1"/>
          <p:cNvSpPr/>
          <p:nvPr/>
        </p:nvSpPr>
        <p:spPr>
          <a:xfrm>
            <a:off x="2743200" y="4160520"/>
            <a:ext cx="274320" cy="274320"/>
          </a:xfrm>
          <a:prstGeom prst="rect">
            <a:avLst/>
          </a:prstGeom>
          <a:solidFill>
            <a:srgbClr val="E3641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raci_key_letter_1"/>
          <p:cNvSpPr txBox="1"/>
          <p:nvPr/>
        </p:nvSpPr>
        <p:spPr>
          <a:xfrm>
            <a:off x="27432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4" name="raci_key_label_1"/>
          <p:cNvSpPr txBox="1"/>
          <p:nvPr/>
        </p:nvSpPr>
        <p:spPr>
          <a:xfrm>
            <a:off x="3090672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Responsible</a:t>
            </a:r>
            <a:endParaRPr lang="en-US" sz="1200" dirty="0"/>
          </a:p>
        </p:txBody>
      </p:sp>
      <p:sp>
        <p:nvSpPr>
          <p:cNvPr id="15" name="raci_key_2"/>
          <p:cNvSpPr/>
          <p:nvPr/>
        </p:nvSpPr>
        <p:spPr>
          <a:xfrm>
            <a:off x="4224528" y="4160520"/>
            <a:ext cx="274320" cy="274320"/>
          </a:xfrm>
          <a:prstGeom prst="rect">
            <a:avLst/>
          </a:prstGeom>
          <a:solidFill>
            <a:srgbClr val="0F4C5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raci_key_letter_2"/>
          <p:cNvSpPr txBox="1"/>
          <p:nvPr/>
        </p:nvSpPr>
        <p:spPr>
          <a:xfrm>
            <a:off x="4224528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7" name="raci_key_label_2"/>
          <p:cNvSpPr txBox="1"/>
          <p:nvPr/>
        </p:nvSpPr>
        <p:spPr>
          <a:xfrm>
            <a:off x="457200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Accountable</a:t>
            </a:r>
            <a:endParaRPr lang="en-US" sz="1200" dirty="0"/>
          </a:p>
        </p:txBody>
      </p:sp>
      <p:sp>
        <p:nvSpPr>
          <p:cNvPr id="18" name="raci_key_3"/>
          <p:cNvSpPr/>
          <p:nvPr/>
        </p:nvSpPr>
        <p:spPr>
          <a:xfrm>
            <a:off x="5705856" y="4160520"/>
            <a:ext cx="274320" cy="274320"/>
          </a:xfrm>
          <a:prstGeom prst="rect">
            <a:avLst/>
          </a:prstGeom>
          <a:solidFill>
            <a:srgbClr val="EEF5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raci_key_letter_3"/>
          <p:cNvSpPr txBox="1"/>
          <p:nvPr/>
        </p:nvSpPr>
        <p:spPr>
          <a:xfrm>
            <a:off x="5705856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raci_key_label_3"/>
          <p:cNvSpPr txBox="1"/>
          <p:nvPr/>
        </p:nvSpPr>
        <p:spPr>
          <a:xfrm>
            <a:off x="6053328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Consulted</a:t>
            </a:r>
            <a:endParaRPr lang="en-US" sz="1200" dirty="0"/>
          </a:p>
        </p:txBody>
      </p:sp>
      <p:sp>
        <p:nvSpPr>
          <p:cNvPr id="21" name="raci_key_4"/>
          <p:cNvSpPr/>
          <p:nvPr/>
        </p:nvSpPr>
        <p:spPr>
          <a:xfrm>
            <a:off x="7187184" y="4160520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raci_key_letter_4"/>
          <p:cNvSpPr txBox="1"/>
          <p:nvPr/>
        </p:nvSpPr>
        <p:spPr>
          <a:xfrm>
            <a:off x="7187184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I</a:t>
            </a:r>
            <a:endParaRPr lang="en-US" sz="1100" dirty="0"/>
          </a:p>
        </p:txBody>
      </p:sp>
      <p:sp>
        <p:nvSpPr>
          <p:cNvPr id="23" name="raci_key_label_4"/>
          <p:cNvSpPr txBox="1"/>
          <p:nvPr/>
        </p:nvSpPr>
        <p:spPr>
          <a:xfrm>
            <a:off x="7534656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Informed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2743200" y="3657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Budget: $8.6M over 18 months</a:t>
            </a:r>
            <a:endParaRPr lang="en-US" sz="2400" dirty="0"/>
          </a:p>
        </p:txBody>
      </p:sp>
      <p:sp>
        <p:nvSpPr>
          <p:cNvPr id="3" name="nav_item_1"/>
          <p:cNvSpPr txBox="1"/>
          <p:nvPr/>
        </p:nvSpPr>
        <p:spPr>
          <a:xfrm>
            <a:off x="621792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Overview</a:t>
            </a:r>
            <a:endParaRPr lang="en-US" sz="1400" dirty="0"/>
          </a:p>
        </p:txBody>
      </p:sp>
      <p:sp>
        <p:nvSpPr>
          <p:cNvPr id="4" name="nav_item_2"/>
          <p:cNvSpPr txBox="1"/>
          <p:nvPr/>
        </p:nvSpPr>
        <p:spPr>
          <a:xfrm>
            <a:off x="621792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Scope</a:t>
            </a:r>
            <a:endParaRPr lang="en-US" sz="1400" dirty="0"/>
          </a:p>
        </p:txBody>
      </p:sp>
      <p:sp>
        <p:nvSpPr>
          <p:cNvPr id="5" name="nav_item_3"/>
          <p:cNvSpPr txBox="1"/>
          <p:nvPr/>
        </p:nvSpPr>
        <p:spPr>
          <a:xfrm>
            <a:off x="621792" y="19751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Timeline</a:t>
            </a:r>
            <a:endParaRPr lang="en-US" sz="1400" dirty="0"/>
          </a:p>
        </p:txBody>
      </p:sp>
      <p:sp>
        <p:nvSpPr>
          <p:cNvPr id="6" name="nav_item_4"/>
          <p:cNvSpPr txBox="1"/>
          <p:nvPr/>
        </p:nvSpPr>
        <p:spPr>
          <a:xfrm>
            <a:off x="621792" y="24140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7" name="nav_item_5"/>
          <p:cNvSpPr txBox="1"/>
          <p:nvPr/>
        </p:nvSpPr>
        <p:spPr>
          <a:xfrm>
            <a:off x="621792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Responsibilities</a:t>
            </a:r>
            <a:endParaRPr lang="en-US" sz="1400" dirty="0"/>
          </a:p>
        </p:txBody>
      </p:sp>
      <p:sp>
        <p:nvSpPr>
          <p:cNvPr id="8" name="nav_marker"/>
          <p:cNvSpPr/>
          <p:nvPr/>
        </p:nvSpPr>
        <p:spPr>
          <a:xfrm>
            <a:off x="365760" y="341071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nav_item_6"/>
          <p:cNvSpPr txBox="1"/>
          <p:nvPr/>
        </p:nvSpPr>
        <p:spPr>
          <a:xfrm>
            <a:off x="621792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Budget</a:t>
            </a:r>
            <a:endParaRPr lang="en-US" sz="1400" dirty="0"/>
          </a:p>
        </p:txBody>
      </p:sp>
      <p:sp>
        <p:nvSpPr>
          <p:cNvPr id="10" name="nav_item_7"/>
          <p:cNvSpPr txBox="1"/>
          <p:nvPr/>
        </p:nvSpPr>
        <p:spPr>
          <a:xfrm>
            <a:off x="621792" y="3730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Next steps</a:t>
            </a:r>
            <a:endParaRPr lang="en-US" sz="1400" dirty="0"/>
          </a:p>
        </p:txBody>
      </p:sp>
      <p:graphicFrame>
        <p:nvGraphicFramePr>
          <p:cNvPr id="11" name="budget_chart" descr=""/>
          <p:cNvGraphicFramePr/>
          <p:nvPr/>
        </p:nvGraphicFramePr>
        <p:xfrm>
          <a:off x="2651760" y="1188720"/>
          <a:ext cx="2834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budget_total"/>
          <p:cNvSpPr txBox="1"/>
          <p:nvPr/>
        </p:nvSpPr>
        <p:spPr>
          <a:xfrm>
            <a:off x="333756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$8.6M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total</a:t>
            </a:r>
            <a:endParaRPr lang="en-US" sz="2400" dirty="0"/>
          </a:p>
        </p:txBody>
      </p:sp>
      <p:sp>
        <p:nvSpPr>
          <p:cNvPr id="13" name="budget_dot_1"/>
          <p:cNvSpPr/>
          <p:nvPr/>
        </p:nvSpPr>
        <p:spPr>
          <a:xfrm>
            <a:off x="5760720" y="1527048"/>
            <a:ext cx="182880" cy="18288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4" name="budget_name_1"/>
          <p:cNvSpPr txBox="1"/>
          <p:nvPr/>
        </p:nvSpPr>
        <p:spPr>
          <a:xfrm>
            <a:off x="6080760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Delivery partner</a:t>
            </a:r>
            <a:endParaRPr lang="en-US" sz="1400" dirty="0"/>
          </a:p>
        </p:txBody>
      </p:sp>
      <p:sp>
        <p:nvSpPr>
          <p:cNvPr id="15" name="budget_value_1"/>
          <p:cNvSpPr txBox="1"/>
          <p:nvPr/>
        </p:nvSpPr>
        <p:spPr>
          <a:xfrm>
            <a:off x="7680960" y="1417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$3.1M</a:t>
            </a:r>
            <a:endParaRPr lang="en-US" sz="1400" dirty="0"/>
          </a:p>
        </p:txBody>
      </p:sp>
      <p:sp>
        <p:nvSpPr>
          <p:cNvPr id="16" name="budget_pct_1"/>
          <p:cNvSpPr txBox="1"/>
          <p:nvPr/>
        </p:nvSpPr>
        <p:spPr>
          <a:xfrm>
            <a:off x="8229600" y="1417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36%</a:t>
            </a:r>
            <a:endParaRPr lang="en-US" sz="1200" dirty="0"/>
          </a:p>
        </p:txBody>
      </p:sp>
      <p:sp>
        <p:nvSpPr>
          <p:cNvPr id="17" name="budget_dot_2"/>
          <p:cNvSpPr/>
          <p:nvPr/>
        </p:nvSpPr>
        <p:spPr>
          <a:xfrm>
            <a:off x="5760720" y="2130552"/>
            <a:ext cx="182880" cy="182880"/>
          </a:xfrm>
          <a:prstGeom prst="ellipse">
            <a:avLst/>
          </a:prstGeom>
          <a:solidFill>
            <a:srgbClr val="5F9EA0"/>
          </a:solidFill>
          <a:ln/>
        </p:spPr>
      </p:sp>
      <p:sp>
        <p:nvSpPr>
          <p:cNvPr id="18" name="budget_name_2"/>
          <p:cNvSpPr txBox="1"/>
          <p:nvPr/>
        </p:nvSpPr>
        <p:spPr>
          <a:xfrm>
            <a:off x="6080760" y="20208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Software licences</a:t>
            </a:r>
            <a:endParaRPr lang="en-US" sz="1400" dirty="0"/>
          </a:p>
        </p:txBody>
      </p:sp>
      <p:sp>
        <p:nvSpPr>
          <p:cNvPr id="19" name="budget_value_2"/>
          <p:cNvSpPr txBox="1"/>
          <p:nvPr/>
        </p:nvSpPr>
        <p:spPr>
          <a:xfrm>
            <a:off x="7680960" y="20208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$2.9M</a:t>
            </a:r>
            <a:endParaRPr lang="en-US" sz="1400" dirty="0"/>
          </a:p>
        </p:txBody>
      </p:sp>
      <p:sp>
        <p:nvSpPr>
          <p:cNvPr id="20" name="budget_pct_2"/>
          <p:cNvSpPr txBox="1"/>
          <p:nvPr/>
        </p:nvSpPr>
        <p:spPr>
          <a:xfrm>
            <a:off x="8229600" y="20208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34%</a:t>
            </a:r>
            <a:endParaRPr lang="en-US" sz="1200" dirty="0"/>
          </a:p>
        </p:txBody>
      </p:sp>
      <p:sp>
        <p:nvSpPr>
          <p:cNvPr id="21" name="budget_dot_3"/>
          <p:cNvSpPr/>
          <p:nvPr/>
        </p:nvSpPr>
        <p:spPr>
          <a:xfrm>
            <a:off x="5760720" y="2734056"/>
            <a:ext cx="182880" cy="1828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2" name="budget_name_3"/>
          <p:cNvSpPr txBox="1"/>
          <p:nvPr/>
        </p:nvSpPr>
        <p:spPr>
          <a:xfrm>
            <a:off x="6080760" y="26243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Internal team</a:t>
            </a:r>
            <a:endParaRPr lang="en-US" sz="1400" dirty="0"/>
          </a:p>
        </p:txBody>
      </p:sp>
      <p:sp>
        <p:nvSpPr>
          <p:cNvPr id="23" name="budget_value_3"/>
          <p:cNvSpPr txBox="1"/>
          <p:nvPr/>
        </p:nvSpPr>
        <p:spPr>
          <a:xfrm>
            <a:off x="7680960" y="26243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$1.5M</a:t>
            </a:r>
            <a:endParaRPr lang="en-US" sz="1400" dirty="0"/>
          </a:p>
        </p:txBody>
      </p:sp>
      <p:sp>
        <p:nvSpPr>
          <p:cNvPr id="24" name="budget_pct_3"/>
          <p:cNvSpPr txBox="1"/>
          <p:nvPr/>
        </p:nvSpPr>
        <p:spPr>
          <a:xfrm>
            <a:off x="8229600" y="2624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17%</a:t>
            </a:r>
            <a:endParaRPr lang="en-US" sz="1200" dirty="0"/>
          </a:p>
        </p:txBody>
      </p:sp>
      <p:sp>
        <p:nvSpPr>
          <p:cNvPr id="25" name="budget_dot_4"/>
          <p:cNvSpPr/>
          <p:nvPr/>
        </p:nvSpPr>
        <p:spPr>
          <a:xfrm>
            <a:off x="5760720" y="3337560"/>
            <a:ext cx="182880" cy="18288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6" name="budget_name_4"/>
          <p:cNvSpPr txBox="1"/>
          <p:nvPr/>
        </p:nvSpPr>
        <p:spPr>
          <a:xfrm>
            <a:off x="6080760" y="32278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Training and change</a:t>
            </a:r>
            <a:endParaRPr lang="en-US" sz="1400" dirty="0"/>
          </a:p>
        </p:txBody>
      </p:sp>
      <p:sp>
        <p:nvSpPr>
          <p:cNvPr id="27" name="budget_value_4"/>
          <p:cNvSpPr txBox="1"/>
          <p:nvPr/>
        </p:nvSpPr>
        <p:spPr>
          <a:xfrm>
            <a:off x="7680960" y="32278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$0.6M</a:t>
            </a:r>
            <a:endParaRPr lang="en-US" sz="1400" dirty="0"/>
          </a:p>
        </p:txBody>
      </p:sp>
      <p:sp>
        <p:nvSpPr>
          <p:cNvPr id="28" name="budget_pct_4"/>
          <p:cNvSpPr txBox="1"/>
          <p:nvPr/>
        </p:nvSpPr>
        <p:spPr>
          <a:xfrm>
            <a:off x="8229600" y="32278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7%</a:t>
            </a:r>
            <a:endParaRPr lang="en-US" sz="1200" dirty="0"/>
          </a:p>
        </p:txBody>
      </p:sp>
      <p:sp>
        <p:nvSpPr>
          <p:cNvPr id="29" name="budget_dot_5"/>
          <p:cNvSpPr/>
          <p:nvPr/>
        </p:nvSpPr>
        <p:spPr>
          <a:xfrm>
            <a:off x="5760720" y="3941064"/>
            <a:ext cx="182880" cy="182880"/>
          </a:xfrm>
          <a:prstGeom prst="ellipse">
            <a:avLst/>
          </a:prstGeom>
          <a:solidFill>
            <a:srgbClr val="7C8B99"/>
          </a:solidFill>
          <a:ln/>
        </p:spPr>
      </p:sp>
      <p:sp>
        <p:nvSpPr>
          <p:cNvPr id="30" name="budget_name_5"/>
          <p:cNvSpPr txBox="1"/>
          <p:nvPr/>
        </p:nvSpPr>
        <p:spPr>
          <a:xfrm>
            <a:off x="6080760" y="383133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Contingency</a:t>
            </a:r>
            <a:endParaRPr lang="en-US" sz="1400" dirty="0"/>
          </a:p>
        </p:txBody>
      </p:sp>
      <p:sp>
        <p:nvSpPr>
          <p:cNvPr id="31" name="budget_value_5"/>
          <p:cNvSpPr txBox="1"/>
          <p:nvPr/>
        </p:nvSpPr>
        <p:spPr>
          <a:xfrm>
            <a:off x="7680960" y="38313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$0.5M</a:t>
            </a:r>
            <a:endParaRPr lang="en-US" sz="1400" dirty="0"/>
          </a:p>
        </p:txBody>
      </p:sp>
      <p:sp>
        <p:nvSpPr>
          <p:cNvPr id="32" name="budget_pct_5"/>
          <p:cNvSpPr txBox="1"/>
          <p:nvPr/>
        </p:nvSpPr>
        <p:spPr>
          <a:xfrm>
            <a:off x="8229600" y="38313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6%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2743200" y="3657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3" name="nav_item_1"/>
          <p:cNvSpPr txBox="1"/>
          <p:nvPr/>
        </p:nvSpPr>
        <p:spPr>
          <a:xfrm>
            <a:off x="621792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Overview</a:t>
            </a:r>
            <a:endParaRPr lang="en-US" sz="1400" dirty="0"/>
          </a:p>
        </p:txBody>
      </p:sp>
      <p:sp>
        <p:nvSpPr>
          <p:cNvPr id="4" name="nav_item_2"/>
          <p:cNvSpPr txBox="1"/>
          <p:nvPr/>
        </p:nvSpPr>
        <p:spPr>
          <a:xfrm>
            <a:off x="621792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Scope</a:t>
            </a:r>
            <a:endParaRPr lang="en-US" sz="1400" dirty="0"/>
          </a:p>
        </p:txBody>
      </p:sp>
      <p:sp>
        <p:nvSpPr>
          <p:cNvPr id="5" name="nav_item_3"/>
          <p:cNvSpPr txBox="1"/>
          <p:nvPr/>
        </p:nvSpPr>
        <p:spPr>
          <a:xfrm>
            <a:off x="621792" y="19751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Timeline</a:t>
            </a:r>
            <a:endParaRPr lang="en-US" sz="1400" dirty="0"/>
          </a:p>
        </p:txBody>
      </p:sp>
      <p:sp>
        <p:nvSpPr>
          <p:cNvPr id="6" name="nav_item_4"/>
          <p:cNvSpPr txBox="1"/>
          <p:nvPr/>
        </p:nvSpPr>
        <p:spPr>
          <a:xfrm>
            <a:off x="621792" y="24140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7" name="nav_item_5"/>
          <p:cNvSpPr txBox="1"/>
          <p:nvPr/>
        </p:nvSpPr>
        <p:spPr>
          <a:xfrm>
            <a:off x="621792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Responsibilities</a:t>
            </a:r>
            <a:endParaRPr lang="en-US" sz="1400" dirty="0"/>
          </a:p>
        </p:txBody>
      </p:sp>
      <p:sp>
        <p:nvSpPr>
          <p:cNvPr id="8" name="nav_item_6"/>
          <p:cNvSpPr txBox="1"/>
          <p:nvPr/>
        </p:nvSpPr>
        <p:spPr>
          <a:xfrm>
            <a:off x="621792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C7"/>
                </a:solidFill>
              </a:rPr>
              <a:t>Budget</a:t>
            </a:r>
            <a:endParaRPr lang="en-US" sz="1400" dirty="0"/>
          </a:p>
        </p:txBody>
      </p:sp>
      <p:sp>
        <p:nvSpPr>
          <p:cNvPr id="9" name="nav_marker"/>
          <p:cNvSpPr/>
          <p:nvPr/>
        </p:nvSpPr>
        <p:spPr>
          <a:xfrm>
            <a:off x="365760" y="3849624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av_item_7"/>
          <p:cNvSpPr txBox="1"/>
          <p:nvPr/>
        </p:nvSpPr>
        <p:spPr>
          <a:xfrm>
            <a:off x="621792" y="3730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1" name="next_box_1"/>
          <p:cNvSpPr/>
          <p:nvPr/>
        </p:nvSpPr>
        <p:spPr>
          <a:xfrm>
            <a:off x="2743200" y="1353312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12" name="next_text_1"/>
          <p:cNvSpPr txBox="1"/>
          <p:nvPr/>
        </p:nvSpPr>
        <p:spPr>
          <a:xfrm>
            <a:off x="3200400" y="12344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workstream leads and backfills</a:t>
            </a:r>
            <a:endParaRPr lang="en-US" sz="1400" dirty="0"/>
          </a:p>
        </p:txBody>
      </p:sp>
      <p:sp>
        <p:nvSpPr>
          <p:cNvPr id="13" name="next_date_1"/>
          <p:cNvSpPr txBox="1"/>
          <p:nvPr/>
        </p:nvSpPr>
        <p:spPr>
          <a:xfrm>
            <a:off x="5577840" y="123444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7 Nov</a:t>
            </a:r>
            <a:endParaRPr lang="en-US" sz="1200" dirty="0"/>
          </a:p>
        </p:txBody>
      </p:sp>
      <p:sp>
        <p:nvSpPr>
          <p:cNvPr id="14" name="next_box_2"/>
          <p:cNvSpPr/>
          <p:nvPr/>
        </p:nvSpPr>
        <p:spPr>
          <a:xfrm>
            <a:off x="2743200" y="2130552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15" name="next_text_2"/>
          <p:cNvSpPr txBox="1"/>
          <p:nvPr/>
        </p:nvSpPr>
        <p:spPr>
          <a:xfrm>
            <a:off x="3200400" y="20116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 implementation partner contract</a:t>
            </a:r>
            <a:endParaRPr lang="en-US" sz="1400" dirty="0"/>
          </a:p>
        </p:txBody>
      </p:sp>
      <p:sp>
        <p:nvSpPr>
          <p:cNvPr id="16" name="next_date_2"/>
          <p:cNvSpPr txBox="1"/>
          <p:nvPr/>
        </p:nvSpPr>
        <p:spPr>
          <a:xfrm>
            <a:off x="5577840" y="201168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14 Nov</a:t>
            </a:r>
            <a:endParaRPr lang="en-US" sz="1200" dirty="0"/>
          </a:p>
        </p:txBody>
      </p:sp>
      <p:sp>
        <p:nvSpPr>
          <p:cNvPr id="17" name="next_box_3"/>
          <p:cNvSpPr/>
          <p:nvPr/>
        </p:nvSpPr>
        <p:spPr>
          <a:xfrm>
            <a:off x="2743200" y="2907792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18" name="next_text_3"/>
          <p:cNvSpPr txBox="1"/>
          <p:nvPr/>
        </p:nvSpPr>
        <p:spPr>
          <a:xfrm>
            <a:off x="3200400" y="27889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Complete current-state process mapping</a:t>
            </a:r>
            <a:endParaRPr lang="en-US" sz="1400" dirty="0"/>
          </a:p>
        </p:txBody>
      </p:sp>
      <p:sp>
        <p:nvSpPr>
          <p:cNvPr id="19" name="next_date_3"/>
          <p:cNvSpPr txBox="1"/>
          <p:nvPr/>
        </p:nvSpPr>
        <p:spPr>
          <a:xfrm>
            <a:off x="5577840" y="278892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12 Dec</a:t>
            </a:r>
            <a:endParaRPr lang="en-US" sz="1200" dirty="0"/>
          </a:p>
        </p:txBody>
      </p:sp>
      <p:sp>
        <p:nvSpPr>
          <p:cNvPr id="20" name="next_box_4"/>
          <p:cNvSpPr/>
          <p:nvPr/>
        </p:nvSpPr>
        <p:spPr>
          <a:xfrm>
            <a:off x="2743200" y="3685032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21" name="next_text_4"/>
          <p:cNvSpPr txBox="1"/>
          <p:nvPr/>
        </p:nvSpPr>
        <p:spPr>
          <a:xfrm>
            <a:off x="3200400" y="35661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Steering Committee approves design scope</a:t>
            </a:r>
            <a:endParaRPr lang="en-US" sz="1400" dirty="0"/>
          </a:p>
        </p:txBody>
      </p:sp>
      <p:sp>
        <p:nvSpPr>
          <p:cNvPr id="22" name="next_date_4"/>
          <p:cNvSpPr txBox="1"/>
          <p:nvPr/>
        </p:nvSpPr>
        <p:spPr>
          <a:xfrm>
            <a:off x="5577840" y="356616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15 Jan</a:t>
            </a:r>
            <a:endParaRPr lang="en-US" sz="1200" dirty="0"/>
          </a:p>
        </p:txBody>
      </p:sp>
      <p:sp>
        <p:nvSpPr>
          <p:cNvPr id="23" name="contact_card"/>
          <p:cNvSpPr/>
          <p:nvPr/>
        </p:nvSpPr>
        <p:spPr>
          <a:xfrm>
            <a:off x="6400800" y="1280160"/>
            <a:ext cx="2286000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contact_head"/>
          <p:cNvSpPr txBox="1"/>
          <p:nvPr/>
        </p:nvSpPr>
        <p:spPr>
          <a:xfrm>
            <a:off x="662940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Questions?</a:t>
            </a:r>
            <a:endParaRPr lang="en-US" sz="1800" dirty="0"/>
          </a:p>
        </p:txBody>
      </p:sp>
      <p:sp>
        <p:nvSpPr>
          <p:cNvPr id="25" name="contact_body"/>
          <p:cNvSpPr txBox="1"/>
          <p:nvPr/>
        </p:nvSpPr>
        <p:spPr>
          <a:xfrm>
            <a:off x="6629400" y="201168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Anika Mehta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Programme Director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36414"/>
                </a:solidFill>
              </a:rPr>
              <a:t>atlas-pmo@company.com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gramme Teal">
  <a:themeElements>
    <a:clrScheme name="Programme Teal">
      <a:dk1>
        <a:srgbClr val="1E293B"/>
      </a:dk1>
      <a:lt1>
        <a:srgbClr val="FFFFFF"/>
      </a:lt1>
      <a:dk2>
        <a:srgbClr val="0F4C5C"/>
      </a:dk2>
      <a:lt2>
        <a:srgbClr val="EEF5F6"/>
      </a:lt2>
      <a:accent1>
        <a:srgbClr val="E36414"/>
      </a:accent1>
      <a:accent2>
        <a:srgbClr val="5F9EA0"/>
      </a:accent2>
      <a:accent3>
        <a:srgbClr val="9A031E"/>
      </a:accent3>
      <a:accent4>
        <a:srgbClr val="FFD166"/>
      </a:accent4>
      <a:accent5>
        <a:srgbClr val="06A77D"/>
      </a:accent5>
      <a:accent6>
        <a:srgbClr val="7C8B99"/>
      </a:accent6>
      <a:hlink>
        <a:srgbClr val="E36414"/>
      </a:hlink>
      <a:folHlink>
        <a:srgbClr val="0F4C5C"/>
      </a:folHlink>
    </a:clrScheme>
    <a:fontScheme name="Programme Teal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Atlas Programme 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Atlas Kickoff</dc:title>
  <dc:subject>PptxGenJS Presentation</dc:subject>
  <dc:creator>Atlas Programme Office</dc:creator>
  <cp:lastModifiedBy>Atlas Programme Office</cp:lastModifiedBy>
  <cp:revision>1</cp:revision>
  <dcterms:created xsi:type="dcterms:W3CDTF">2026-10-26T05:30:39Z</dcterms:created>
  <dcterms:modified xsi:type="dcterms:W3CDTF">2026-10-26T05:30:39Z</dcterms:modified>
</cp:coreProperties>
</file>